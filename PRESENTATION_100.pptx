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F1A"/>
          </a:solidFill>
          <a:ln>
            <a:solidFill>
              <a:srgbClr val="0C0F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351215" y="0"/>
            <a:ext cx="3840480" cy="6858000"/>
          </a:xfrm>
          <a:prstGeom prst="rect">
            <a:avLst/>
          </a:prstGeom>
          <a:solidFill>
            <a:srgbClr val="141C2E"/>
          </a:solidFill>
          <a:ln>
            <a:solidFill>
              <a:srgbClr val="141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351215" y="0"/>
            <a:ext cx="36576" cy="6858000"/>
          </a:xfrm>
          <a:prstGeom prst="rect">
            <a:avLst/>
          </a:prstGeom>
          <a:solidFill>
            <a:srgbClr val="1E2D42"/>
          </a:solidFill>
          <a:ln>
            <a:solidFill>
              <a:srgbClr val="1E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00584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669"/>
                </a:solidFill>
                <a:latin typeface="Calibri"/>
              </a:rPr>
              <a:t>SUPMTI Rabat   AI Capstone 2025-2026   Topic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8229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F8FAFC"/>
                </a:solidFill>
                <a:latin typeface="Calibri"/>
              </a:rPr>
              <a:t>Network Traffic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331720"/>
            <a:ext cx="8229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E2A800"/>
                </a:solidFill>
                <a:latin typeface="Calibri"/>
              </a:rPr>
              <a:t>Anomaly Detection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401568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Unsupervised K-Means Clustering   NSL-KDD Dataset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858768"/>
            <a:ext cx="3840480" cy="12700"/>
          </a:xfrm>
          <a:prstGeom prst="rect">
            <a:avLst/>
          </a:prstGeom>
          <a:solidFill>
            <a:srgbClr val="1E2D42"/>
          </a:solidFill>
          <a:ln>
            <a:solidFill>
              <a:srgbClr val="1E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023360"/>
            <a:ext cx="2926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475669"/>
                </a:solidFill>
                <a:latin typeface="Calibri"/>
              </a:rPr>
              <a:t>AUTHOR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242816"/>
            <a:ext cx="2926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8FAFC"/>
                </a:solidFill>
                <a:latin typeface="Calibri"/>
              </a:rPr>
              <a:t>Said Louham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86200" y="4023360"/>
            <a:ext cx="2926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475669"/>
                </a:solidFill>
                <a:latin typeface="Calibri"/>
              </a:rPr>
              <a:t>SUPERVISOR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86200" y="4242816"/>
            <a:ext cx="2926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8FAFC"/>
                </a:solidFill>
                <a:latin typeface="Calibri"/>
              </a:rPr>
              <a:t>Pr. Soufiane HAMIDA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60" y="4023360"/>
            <a:ext cx="2926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475669"/>
                </a:solidFill>
                <a:latin typeface="Calibri"/>
              </a:rPr>
              <a:t>YEAR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60" y="4242816"/>
            <a:ext cx="2926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8FAFC"/>
                </a:solidFill>
                <a:latin typeface="Calibri"/>
              </a:rPr>
              <a:t>2025 / 2026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864608"/>
            <a:ext cx="3840480" cy="12700"/>
          </a:xfrm>
          <a:prstGeom prst="rect">
            <a:avLst/>
          </a:prstGeom>
          <a:solidFill>
            <a:srgbClr val="1E2D42"/>
          </a:solidFill>
          <a:ln>
            <a:solidFill>
              <a:srgbClr val="1E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029200"/>
            <a:ext cx="2651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2A800"/>
                </a:solidFill>
                <a:latin typeface="Calibri"/>
              </a:rPr>
              <a:t>125,973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57784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669"/>
                </a:solidFill>
                <a:latin typeface="Calibri"/>
              </a:rPr>
              <a:t>training records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75304" y="5029200"/>
            <a:ext cx="2651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2A800"/>
                </a:solidFill>
                <a:latin typeface="Calibri"/>
              </a:rPr>
              <a:t>6 steps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75304" y="557784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669"/>
                </a:solidFill>
                <a:latin typeface="Calibri"/>
              </a:rPr>
              <a:t>automated pipeline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5029200"/>
            <a:ext cx="2651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2A800"/>
                </a:solidFill>
                <a:latin typeface="Calibri"/>
              </a:rPr>
              <a:t>44 tests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73368" y="557784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669"/>
                </a:solidFill>
                <a:latin typeface="Calibri"/>
              </a:rPr>
              <a:t>all passing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34095" y="100584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669"/>
                </a:solidFill>
                <a:latin typeface="Calibri"/>
              </a:rPr>
              <a:t>Built with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534095" y="1463040"/>
            <a:ext cx="54864" cy="182880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98687" y="1371600"/>
            <a:ext cx="3108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FAFC"/>
                </a:solidFill>
                <a:latin typeface="Calibri"/>
              </a:rPr>
              <a:t>Python 3.12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534095" y="1865376"/>
            <a:ext cx="54864" cy="182880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98687" y="1773936"/>
            <a:ext cx="3108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FAFC"/>
                </a:solidFill>
                <a:latin typeface="Calibri"/>
              </a:rPr>
              <a:t>Streamlit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34095" y="2267712"/>
            <a:ext cx="54864" cy="182880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98687" y="2176272"/>
            <a:ext cx="3108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FAFC"/>
                </a:solidFill>
                <a:latin typeface="Calibri"/>
              </a:rPr>
              <a:t>scikit-learn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534095" y="2670048"/>
            <a:ext cx="54864" cy="182880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98687" y="2578608"/>
            <a:ext cx="3108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FAFC"/>
                </a:solidFill>
                <a:latin typeface="Calibri"/>
              </a:rPr>
              <a:t>Plotly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534095" y="3072384"/>
            <a:ext cx="54864" cy="182880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98687" y="2980944"/>
            <a:ext cx="3108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FAFC"/>
                </a:solidFill>
                <a:latin typeface="Calibri"/>
              </a:rPr>
              <a:t>SQLite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34095" y="3474720"/>
            <a:ext cx="54864" cy="182880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98687" y="3383280"/>
            <a:ext cx="3108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FAFC"/>
                </a:solidFill>
                <a:latin typeface="Calibri"/>
              </a:rPr>
              <a:t>pytest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F1A"/>
          </a:solidFill>
          <a:ln>
            <a:solidFill>
              <a:srgbClr val="0C0F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20624"/>
            <a:ext cx="106372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75669"/>
                </a:solidFill>
                <a:latin typeface="Calibri"/>
              </a:rPr>
              <a:t>What was 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68096"/>
            <a:ext cx="10637215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8FAFC"/>
                </a:solidFill>
                <a:latin typeface="Calibri"/>
              </a:rPr>
              <a:t>An end-to-end unsupervised ML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35024"/>
            <a:ext cx="10637215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2A800"/>
                </a:solidFill>
                <a:latin typeface="Calibri"/>
              </a:rPr>
              <a:t>detecting network intrusions without labeled training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938528"/>
            <a:ext cx="106372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4A3B8"/>
                </a:solidFill>
                <a:latin typeface="Calibri"/>
              </a:rPr>
              <a:t>Deployed as a browser application — anyone can run it in one click.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523744"/>
            <a:ext cx="10545775" cy="12700"/>
          </a:xfrm>
          <a:prstGeom prst="rect">
            <a:avLst/>
          </a:prstGeom>
          <a:solidFill>
            <a:srgbClr val="1E2D42"/>
          </a:solidFill>
          <a:ln>
            <a:solidFill>
              <a:srgbClr val="1E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706624"/>
            <a:ext cx="5181447" cy="1947672"/>
          </a:xfrm>
          <a:prstGeom prst="rect">
            <a:avLst/>
          </a:prstGeom>
          <a:solidFill>
            <a:srgbClr val="141C2E"/>
          </a:solidFill>
          <a:ln>
            <a:solidFill>
              <a:srgbClr val="141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2706624"/>
            <a:ext cx="5181447" cy="45720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834640"/>
            <a:ext cx="492541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8FAFC"/>
                </a:solidFill>
                <a:latin typeface="Calibri"/>
              </a:rPr>
              <a:t>NSL-KDD Dataset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200400"/>
            <a:ext cx="4925415" cy="1362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125,973 training records across 5 attack categories. Zero missing values. Pre-split train/test sets with no data leakage.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33007" y="2706624"/>
            <a:ext cx="5181447" cy="1947672"/>
          </a:xfrm>
          <a:prstGeom prst="rect">
            <a:avLst/>
          </a:prstGeom>
          <a:solidFill>
            <a:srgbClr val="141C2E"/>
          </a:solidFill>
          <a:ln>
            <a:solidFill>
              <a:srgbClr val="141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33007" y="2706624"/>
            <a:ext cx="5181447" cy="45720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5887" y="2834640"/>
            <a:ext cx="492541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8FAFC"/>
                </a:solidFill>
                <a:latin typeface="Calibri"/>
              </a:rPr>
              <a:t>K-Means Clustering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5887" y="3200400"/>
            <a:ext cx="4925415" cy="1362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Configurable k (2-20). Pre-trained k=5 model loads in one click. Anomaly cluster auto-identified by attack density.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764024"/>
            <a:ext cx="5181447" cy="1947672"/>
          </a:xfrm>
          <a:prstGeom prst="rect">
            <a:avLst/>
          </a:prstGeom>
          <a:solidFill>
            <a:srgbClr val="141C2E"/>
          </a:solidFill>
          <a:ln>
            <a:solidFill>
              <a:srgbClr val="141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764024"/>
            <a:ext cx="5181447" cy="45720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892040"/>
            <a:ext cx="492541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8FAFC"/>
                </a:solidFill>
                <a:latin typeface="Calibri"/>
              </a:rPr>
              <a:t>6-Step Automated Pipeline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5257800"/>
            <a:ext cx="4925415" cy="1362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Upload -&gt; EDA -&gt; Preprocess -&gt; Detect -&gt; Evaluate -&gt; Export. Every step is interactive, cached, and runs in the browser.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3007" y="4764024"/>
            <a:ext cx="5181447" cy="1947672"/>
          </a:xfrm>
          <a:prstGeom prst="rect">
            <a:avLst/>
          </a:prstGeom>
          <a:solidFill>
            <a:srgbClr val="141C2E"/>
          </a:solidFill>
          <a:ln>
            <a:solidFill>
              <a:srgbClr val="141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3007" y="4764024"/>
            <a:ext cx="5181447" cy="45720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15887" y="4892040"/>
            <a:ext cx="492541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8FAFC"/>
                </a:solidFill>
                <a:latin typeface="Calibri"/>
              </a:rPr>
              <a:t>Production-Quality Code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5887" y="5257800"/>
            <a:ext cx="4925415" cy="1362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44 automated unit tests across 4 pytest modules. CSV, PDF, and SQLite export. Auto-migration on schema changes.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F1A"/>
          </a:solidFill>
          <a:ln>
            <a:solidFill>
              <a:srgbClr val="0C0F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716975" y="-182880"/>
            <a:ext cx="3474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400" b="1" i="0">
                <a:solidFill>
                  <a:srgbClr val="785600"/>
                </a:solidFill>
                <a:latin typeface="Calibri"/>
              </a:rPr>
              <a:t>01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30352"/>
            <a:ext cx="10637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8FAFC"/>
                </a:solidFill>
                <a:latin typeface="Calibri"/>
              </a:rPr>
              <a:t>The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950976"/>
            <a:ext cx="106372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  <a:latin typeface="Calibri"/>
              </a:rPr>
              <a:t>Why automated anomaly detection matters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280160"/>
            <a:ext cx="10637215" cy="12700"/>
          </a:xfrm>
          <a:prstGeom prst="rect">
            <a:avLst/>
          </a:prstGeom>
          <a:solidFill>
            <a:srgbClr val="1E2D42"/>
          </a:solidFill>
          <a:ln>
            <a:solidFill>
              <a:srgbClr val="1E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08615" y="647395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75669"/>
                </a:solidFill>
                <a:latin typeface="Calibri"/>
              </a:rPr>
              <a:t>1  /  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463040"/>
            <a:ext cx="10637215" cy="1408176"/>
          </a:xfrm>
          <a:prstGeom prst="rect">
            <a:avLst/>
          </a:prstGeom>
          <a:solidFill>
            <a:srgbClr val="141C2E"/>
          </a:solidFill>
          <a:ln>
            <a:solidFill>
              <a:srgbClr val="141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463040"/>
            <a:ext cx="54864" cy="1408176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1591056"/>
            <a:ext cx="502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2A800"/>
                </a:solidFill>
                <a:latin typeface="Calibr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81912" y="1536192"/>
            <a:ext cx="972281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8FAFC"/>
                </a:solidFill>
                <a:latin typeface="Calibri"/>
              </a:rPr>
              <a:t>Volume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81912" y="1865376"/>
            <a:ext cx="9722815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Networks generate thousands of connections per second. A single 1Gbps link can produce over 60,000 flows per minute — manual inspection is physically impossible.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944368"/>
            <a:ext cx="10637215" cy="1408176"/>
          </a:xfrm>
          <a:prstGeom prst="rect">
            <a:avLst/>
          </a:prstGeom>
          <a:solidFill>
            <a:srgbClr val="141C2E"/>
          </a:solidFill>
          <a:ln>
            <a:solidFill>
              <a:srgbClr val="141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2944368"/>
            <a:ext cx="54864" cy="1408176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072384"/>
            <a:ext cx="502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2A800"/>
                </a:solidFill>
                <a:latin typeface="Calibr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81912" y="3017520"/>
            <a:ext cx="972281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8FAFC"/>
                </a:solidFill>
                <a:latin typeface="Calibri"/>
              </a:rPr>
              <a:t>Variety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81912" y="3346704"/>
            <a:ext cx="9722815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Attacks differ fundamentally in behavior. DoS floods bandwidth. Probes scan for open ports quietly. R2L and U2R exploit service vulnerabilities through legitimate channels. No single rule catches all four.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4425696"/>
            <a:ext cx="10637215" cy="1408176"/>
          </a:xfrm>
          <a:prstGeom prst="rect">
            <a:avLst/>
          </a:prstGeom>
          <a:solidFill>
            <a:srgbClr val="141C2E"/>
          </a:solidFill>
          <a:ln>
            <a:solidFill>
              <a:srgbClr val="141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4425696"/>
            <a:ext cx="54864" cy="1408176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553712"/>
            <a:ext cx="502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2A800"/>
                </a:solidFill>
                <a:latin typeface="Calibri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81912" y="4498848"/>
            <a:ext cx="972281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8FAFC"/>
                </a:solidFill>
                <a:latin typeface="Calibri"/>
              </a:rPr>
              <a:t>No Labels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81912" y="4828032"/>
            <a:ext cx="9722815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In production, traffic arrives without pre-labeled categories. Supervised classifiers require labeled attack samples at training time — a requirement that cannot always be met in new environments.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5925312"/>
            <a:ext cx="10637215" cy="493776"/>
          </a:xfrm>
          <a:prstGeom prst="rect">
            <a:avLst/>
          </a:prstGeom>
          <a:solidFill>
            <a:srgbClr val="1A2438"/>
          </a:solidFill>
          <a:ln w="10160"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8408" y="6016752"/>
            <a:ext cx="1038118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8FAFC"/>
                </a:solidFill>
                <a:latin typeface="Calibri"/>
              </a:rPr>
              <a:t>Solution  —  K-Means unsupervised clustering groups traffic by behavior. No labels required at training time. The cluster with the highest attack density is automatically flagged.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F1A"/>
          </a:solidFill>
          <a:ln>
            <a:solidFill>
              <a:srgbClr val="0C0F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716975" y="-182880"/>
            <a:ext cx="3474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400" b="1" i="0">
                <a:solidFill>
                  <a:srgbClr val="785600"/>
                </a:solidFill>
                <a:latin typeface="Calibri"/>
              </a:rP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30352"/>
            <a:ext cx="10637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8FAFC"/>
                </a:solidFill>
                <a:latin typeface="Calibri"/>
              </a:rPr>
              <a:t>NSL-KDD Dataset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950976"/>
            <a:ext cx="106372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  <a:latin typeface="Calibri"/>
              </a:rPr>
              <a:t>Improved KDD Cup 1999 — standard academic benchmark for intrusion detection research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280160"/>
            <a:ext cx="10637215" cy="12700"/>
          </a:xfrm>
          <a:prstGeom prst="rect">
            <a:avLst/>
          </a:prstGeom>
          <a:solidFill>
            <a:srgbClr val="1E2D42"/>
          </a:solidFill>
          <a:ln>
            <a:solidFill>
              <a:srgbClr val="1E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08615" y="647395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75669"/>
                </a:solidFill>
                <a:latin typeface="Calibri"/>
              </a:rPr>
              <a:t>2  /  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408176"/>
            <a:ext cx="2563291" cy="1719072"/>
          </a:xfrm>
          <a:prstGeom prst="rect">
            <a:avLst/>
          </a:prstGeom>
          <a:solidFill>
            <a:srgbClr val="141C2E"/>
          </a:solidFill>
          <a:ln>
            <a:solidFill>
              <a:srgbClr val="141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408176"/>
            <a:ext cx="2563291" cy="45720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536192"/>
            <a:ext cx="2563291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E2A800"/>
                </a:solidFill>
                <a:latin typeface="Calibri"/>
              </a:rPr>
              <a:t>125,973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377440"/>
            <a:ext cx="256329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8FAFC"/>
                </a:solidFill>
                <a:latin typeface="Calibri"/>
              </a:rPr>
              <a:t>Training records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651760"/>
            <a:ext cx="256329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475669"/>
                </a:solidFill>
                <a:latin typeface="Calibri"/>
              </a:rPr>
              <a:t>KDDTrain+.txt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68547" y="1408176"/>
            <a:ext cx="2563291" cy="1719072"/>
          </a:xfrm>
          <a:prstGeom prst="rect">
            <a:avLst/>
          </a:prstGeom>
          <a:solidFill>
            <a:srgbClr val="141C2E"/>
          </a:solidFill>
          <a:ln>
            <a:solidFill>
              <a:srgbClr val="141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68547" y="1408176"/>
            <a:ext cx="2563291" cy="45720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68547" y="1536192"/>
            <a:ext cx="2563291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E2A800"/>
                </a:solidFill>
                <a:latin typeface="Calibri"/>
              </a:rPr>
              <a:t>22,544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68547" y="2377440"/>
            <a:ext cx="256329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8FAFC"/>
                </a:solidFill>
                <a:latin typeface="Calibri"/>
              </a:rPr>
              <a:t>Test records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68547" y="2651760"/>
            <a:ext cx="256329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475669"/>
                </a:solidFill>
                <a:latin typeface="Calibri"/>
              </a:rPr>
              <a:t>KDDTest+.txt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59855" y="1408176"/>
            <a:ext cx="2563291" cy="1719072"/>
          </a:xfrm>
          <a:prstGeom prst="rect">
            <a:avLst/>
          </a:prstGeom>
          <a:solidFill>
            <a:srgbClr val="141C2E"/>
          </a:solidFill>
          <a:ln>
            <a:solidFill>
              <a:srgbClr val="141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59855" y="1408176"/>
            <a:ext cx="2563291" cy="45720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59855" y="1536192"/>
            <a:ext cx="2563291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E2A800"/>
                </a:solidFill>
                <a:latin typeface="Calibri"/>
              </a:rPr>
              <a:t>41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59855" y="2377440"/>
            <a:ext cx="256329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8FAFC"/>
                </a:solidFill>
                <a:latin typeface="Calibri"/>
              </a:rPr>
              <a:t>Features/record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59855" y="2651760"/>
            <a:ext cx="256329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475669"/>
                </a:solidFill>
                <a:latin typeface="Calibri"/>
              </a:rPr>
              <a:t>per connection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51163" y="1408176"/>
            <a:ext cx="2563291" cy="1719072"/>
          </a:xfrm>
          <a:prstGeom prst="rect">
            <a:avLst/>
          </a:prstGeom>
          <a:solidFill>
            <a:srgbClr val="141C2E"/>
          </a:solidFill>
          <a:ln>
            <a:solidFill>
              <a:srgbClr val="141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51163" y="1408176"/>
            <a:ext cx="2563291" cy="45720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51163" y="1536192"/>
            <a:ext cx="2563291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E2A800"/>
                </a:solidFill>
                <a:latin typeface="Calibri"/>
              </a:rPr>
              <a:t>23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51163" y="2377440"/>
            <a:ext cx="256329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8FAFC"/>
                </a:solidFill>
                <a:latin typeface="Calibri"/>
              </a:rPr>
              <a:t>Attack classes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51163" y="2651760"/>
            <a:ext cx="256329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475669"/>
                </a:solidFill>
                <a:latin typeface="Calibri"/>
              </a:rPr>
              <a:t>in training set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3328416"/>
            <a:ext cx="10637215" cy="12700"/>
          </a:xfrm>
          <a:prstGeom prst="rect">
            <a:avLst/>
          </a:prstGeom>
          <a:solidFill>
            <a:srgbClr val="1E2D42"/>
          </a:solidFill>
          <a:ln>
            <a:solidFill>
              <a:srgbClr val="1E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3474720"/>
            <a:ext cx="518144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2A800"/>
                </a:solidFill>
                <a:latin typeface="Calibri"/>
              </a:rPr>
              <a:t>Attack Categories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" y="3886200"/>
            <a:ext cx="54864" cy="219456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1832" y="3803904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8FAFC"/>
                </a:solidFill>
                <a:latin typeface="Calibri"/>
              </a:rPr>
              <a:t>DoS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84248" y="3803904"/>
            <a:ext cx="3901287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neptune, smurf, back, pod, teardrop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77240" y="4279392"/>
            <a:ext cx="54864" cy="219456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1832" y="4197096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8FAFC"/>
                </a:solidFill>
                <a:latin typeface="Calibri"/>
              </a:rPr>
              <a:t>Probe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84248" y="4197096"/>
            <a:ext cx="3901287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ipsweep, nmap, portsweep, satan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77240" y="4672584"/>
            <a:ext cx="54864" cy="219456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41832" y="4590288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8FAFC"/>
                </a:solidFill>
                <a:latin typeface="Calibri"/>
              </a:rPr>
              <a:t>R2L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84248" y="4590288"/>
            <a:ext cx="3901287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warezclient, imap, spy, ftp_write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" y="5065776"/>
            <a:ext cx="54864" cy="219456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41832" y="4983480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8FAFC"/>
                </a:solidFill>
                <a:latin typeface="Calibri"/>
              </a:rPr>
              <a:t>U2R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84248" y="4983480"/>
            <a:ext cx="3901287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buffer_overflow, rootkit, perl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7240" y="5458968"/>
            <a:ext cx="54864" cy="219456"/>
          </a:xfrm>
          <a:prstGeom prst="rect">
            <a:avLst/>
          </a:prstGeom>
          <a:solidFill>
            <a:srgbClr val="475669"/>
          </a:solidFill>
          <a:ln>
            <a:solidFill>
              <a:srgbClr val="475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41832" y="5376672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8FAFC"/>
                </a:solidFill>
                <a:latin typeface="Calibri"/>
              </a:rPr>
              <a:t>Normal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984248" y="5376672"/>
            <a:ext cx="3901287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approx. 55% of training records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33007" y="3474720"/>
            <a:ext cx="518144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2A800"/>
                </a:solidFill>
                <a:latin typeface="Calibri"/>
              </a:rPr>
              <a:t>Dataset Properties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33007" y="3895344"/>
            <a:ext cx="54864" cy="201168"/>
          </a:xfrm>
          <a:prstGeom prst="rect">
            <a:avLst/>
          </a:prstGeom>
          <a:solidFill>
            <a:srgbClr val="475669"/>
          </a:solidFill>
          <a:ln>
            <a:solidFill>
              <a:srgbClr val="475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97599" y="3803904"/>
            <a:ext cx="498027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No missing values in either file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33007" y="4288536"/>
            <a:ext cx="54864" cy="201168"/>
          </a:xfrm>
          <a:prstGeom prst="rect">
            <a:avLst/>
          </a:prstGeom>
          <a:solidFill>
            <a:srgbClr val="475669"/>
          </a:solidFill>
          <a:ln>
            <a:solidFill>
              <a:srgbClr val="475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97599" y="4197096"/>
            <a:ext cx="498027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Pre-split train / test — zero data leakage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33007" y="4681728"/>
            <a:ext cx="54864" cy="201168"/>
          </a:xfrm>
          <a:prstGeom prst="rect">
            <a:avLst/>
          </a:prstGeom>
          <a:solidFill>
            <a:srgbClr val="475669"/>
          </a:solidFill>
          <a:ln>
            <a:solidFill>
              <a:srgbClr val="475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97599" y="4590288"/>
            <a:ext cx="498027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3 categorical  +  38 numeric features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233007" y="5074920"/>
            <a:ext cx="54864" cy="201168"/>
          </a:xfrm>
          <a:prstGeom prst="rect">
            <a:avLst/>
          </a:prstGeom>
          <a:solidFill>
            <a:srgbClr val="475669"/>
          </a:solidFill>
          <a:ln>
            <a:solidFill>
              <a:srgbClr val="475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397599" y="4983480"/>
            <a:ext cx="498027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Labels removed before training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233007" y="5468112"/>
            <a:ext cx="54864" cy="201168"/>
          </a:xfrm>
          <a:prstGeom prst="rect">
            <a:avLst/>
          </a:prstGeom>
          <a:solidFill>
            <a:srgbClr val="475669"/>
          </a:solidFill>
          <a:ln>
            <a:solidFill>
              <a:srgbClr val="475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397599" y="5376672"/>
            <a:ext cx="498027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Labels used only after clustering to evaluate quality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F1A"/>
          </a:solidFill>
          <a:ln>
            <a:solidFill>
              <a:srgbClr val="0C0F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716975" y="-182880"/>
            <a:ext cx="3474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400" b="1" i="0">
                <a:solidFill>
                  <a:srgbClr val="785600"/>
                </a:solidFill>
                <a:latin typeface="Calibri"/>
              </a:rPr>
              <a:t>03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30352"/>
            <a:ext cx="10637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8FAFC"/>
                </a:solidFill>
                <a:latin typeface="Calibri"/>
              </a:rPr>
              <a:t>System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950976"/>
            <a:ext cx="106372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  <a:latin typeface="Calibri"/>
              </a:rPr>
              <a:t>How the modules connect — from raw file to export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280160"/>
            <a:ext cx="10637215" cy="12700"/>
          </a:xfrm>
          <a:prstGeom prst="rect">
            <a:avLst/>
          </a:prstGeom>
          <a:solidFill>
            <a:srgbClr val="1E2D42"/>
          </a:solidFill>
          <a:ln>
            <a:solidFill>
              <a:srgbClr val="1E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08615" y="647395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75669"/>
                </a:solidFill>
                <a:latin typeface="Calibri"/>
              </a:rPr>
              <a:t>3  /  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481328"/>
            <a:ext cx="1417320" cy="804672"/>
          </a:xfrm>
          <a:prstGeom prst="rect">
            <a:avLst/>
          </a:prstGeom>
          <a:solidFill>
            <a:srgbClr val="141C2E"/>
          </a:solidFill>
          <a:ln>
            <a:solidFill>
              <a:srgbClr val="141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481328"/>
            <a:ext cx="54864" cy="804672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" y="1682496"/>
            <a:ext cx="11978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4A3B8"/>
                </a:solidFill>
                <a:latin typeface="Calibri"/>
              </a:rPr>
              <a:t>Interface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596896"/>
            <a:ext cx="1417320" cy="1609344"/>
          </a:xfrm>
          <a:prstGeom prst="rect">
            <a:avLst/>
          </a:prstGeom>
          <a:solidFill>
            <a:srgbClr val="141C2E"/>
          </a:solidFill>
          <a:ln>
            <a:solidFill>
              <a:srgbClr val="141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2596896"/>
            <a:ext cx="54864" cy="1609344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3200400"/>
            <a:ext cx="11978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4A3B8"/>
                </a:solidFill>
                <a:latin typeface="Calibri"/>
              </a:rPr>
              <a:t>Logic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517136"/>
            <a:ext cx="1417320" cy="987552"/>
          </a:xfrm>
          <a:prstGeom prst="rect">
            <a:avLst/>
          </a:prstGeom>
          <a:solidFill>
            <a:srgbClr val="141C2E"/>
          </a:solidFill>
          <a:ln>
            <a:solidFill>
              <a:srgbClr val="141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517136"/>
            <a:ext cx="54864" cy="987552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2" y="4809744"/>
            <a:ext cx="11978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4A3B8"/>
                </a:solidFill>
                <a:latin typeface="Calibri"/>
              </a:rPr>
              <a:t>Storage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77440" y="1408176"/>
            <a:ext cx="9037015" cy="868680"/>
          </a:xfrm>
          <a:prstGeom prst="rect">
            <a:avLst/>
          </a:prstGeom>
          <a:solidFill>
            <a:srgbClr val="1A2438"/>
          </a:solidFill>
          <a:ln w="12700"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60320" y="1536192"/>
            <a:ext cx="876269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8FAFC"/>
                </a:solidFill>
                <a:latin typeface="Calibri"/>
              </a:rPr>
              <a:t>Streamlit Application   —   src/app/app.py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0320" y="1865376"/>
            <a:ext cx="876269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6 render functions   Session state management   Custom CSS   Sidebar settings panel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86803" y="2276856"/>
            <a:ext cx="18288" cy="182880"/>
          </a:xfrm>
          <a:prstGeom prst="rect">
            <a:avLst/>
          </a:prstGeom>
          <a:solidFill>
            <a:srgbClr val="1E2D42"/>
          </a:solidFill>
          <a:ln>
            <a:solidFill>
              <a:srgbClr val="1E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377440" y="2459736"/>
            <a:ext cx="1719620" cy="1554480"/>
          </a:xfrm>
          <a:prstGeom prst="rect">
            <a:avLst/>
          </a:prstGeom>
          <a:solidFill>
            <a:srgbClr val="141C2E"/>
          </a:solidFill>
          <a:ln>
            <a:solidFill>
              <a:srgbClr val="141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377440" y="2459736"/>
            <a:ext cx="1719620" cy="36576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68880" y="2551176"/>
            <a:ext cx="15916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E2A800"/>
                </a:solidFill>
                <a:latin typeface="Calibri"/>
              </a:rPr>
              <a:t>loader.py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487168" y="2880360"/>
            <a:ext cx="1500164" cy="12700"/>
          </a:xfrm>
          <a:prstGeom prst="rect">
            <a:avLst/>
          </a:prstGeom>
          <a:solidFill>
            <a:srgbClr val="1E2D42"/>
          </a:solidFill>
          <a:ln>
            <a:solidFill>
              <a:srgbClr val="1E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468880" y="2971800"/>
            <a:ext cx="1591604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File loading
Schema validation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28106" y="4014216"/>
            <a:ext cx="18288" cy="182880"/>
          </a:xfrm>
          <a:prstGeom prst="rect">
            <a:avLst/>
          </a:prstGeom>
          <a:solidFill>
            <a:srgbClr val="1E2D42"/>
          </a:solidFill>
          <a:ln>
            <a:solidFill>
              <a:srgbClr val="1E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06788" y="2459736"/>
            <a:ext cx="1719620" cy="1554480"/>
          </a:xfrm>
          <a:prstGeom prst="rect">
            <a:avLst/>
          </a:prstGeom>
          <a:solidFill>
            <a:srgbClr val="141C2E"/>
          </a:solidFill>
          <a:ln>
            <a:solidFill>
              <a:srgbClr val="141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206788" y="2459736"/>
            <a:ext cx="1719620" cy="36576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98228" y="2551176"/>
            <a:ext cx="15916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E2A800"/>
                </a:solidFill>
                <a:latin typeface="Calibri"/>
              </a:rPr>
              <a:t>eda_analysis.py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16516" y="2880360"/>
            <a:ext cx="1500164" cy="12700"/>
          </a:xfrm>
          <a:prstGeom prst="rect">
            <a:avLst/>
          </a:prstGeom>
          <a:solidFill>
            <a:srgbClr val="1E2D42"/>
          </a:solidFill>
          <a:ln>
            <a:solidFill>
              <a:srgbClr val="1E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98228" y="2971800"/>
            <a:ext cx="1591604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5 Plotly chart
functions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57454" y="4014216"/>
            <a:ext cx="18288" cy="182880"/>
          </a:xfrm>
          <a:prstGeom prst="rect">
            <a:avLst/>
          </a:prstGeom>
          <a:solidFill>
            <a:srgbClr val="1E2D42"/>
          </a:solidFill>
          <a:ln>
            <a:solidFill>
              <a:srgbClr val="1E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036137" y="2459736"/>
            <a:ext cx="1719620" cy="1554480"/>
          </a:xfrm>
          <a:prstGeom prst="rect">
            <a:avLst/>
          </a:prstGeom>
          <a:solidFill>
            <a:srgbClr val="141C2E"/>
          </a:solidFill>
          <a:ln>
            <a:solidFill>
              <a:srgbClr val="141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036137" y="2459736"/>
            <a:ext cx="1719620" cy="36576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27577" y="2551176"/>
            <a:ext cx="15916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E2A800"/>
                </a:solidFill>
                <a:latin typeface="Calibri"/>
              </a:rPr>
              <a:t>preprocessor.py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45865" y="2880360"/>
            <a:ext cx="1500164" cy="12700"/>
          </a:xfrm>
          <a:prstGeom prst="rect">
            <a:avLst/>
          </a:prstGeom>
          <a:solidFill>
            <a:srgbClr val="1E2D42"/>
          </a:solidFill>
          <a:ln>
            <a:solidFill>
              <a:srgbClr val="1E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27577" y="2971800"/>
            <a:ext cx="1591604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OHE + Scaler
43 -&gt; 122 features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886803" y="4014216"/>
            <a:ext cx="18288" cy="182880"/>
          </a:xfrm>
          <a:prstGeom prst="rect">
            <a:avLst/>
          </a:prstGeom>
          <a:solidFill>
            <a:srgbClr val="1E2D42"/>
          </a:solidFill>
          <a:ln>
            <a:solidFill>
              <a:srgbClr val="1E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865485" y="2459736"/>
            <a:ext cx="1719620" cy="1554480"/>
          </a:xfrm>
          <a:prstGeom prst="rect">
            <a:avLst/>
          </a:prstGeom>
          <a:solidFill>
            <a:srgbClr val="141C2E"/>
          </a:solidFill>
          <a:ln>
            <a:solidFill>
              <a:srgbClr val="141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865485" y="2459736"/>
            <a:ext cx="1719620" cy="36576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956925" y="2551176"/>
            <a:ext cx="15916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E2A800"/>
                </a:solidFill>
                <a:latin typeface="Calibri"/>
              </a:rPr>
              <a:t>kmeans_model.py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975213" y="2880360"/>
            <a:ext cx="1500164" cy="12700"/>
          </a:xfrm>
          <a:prstGeom prst="rect">
            <a:avLst/>
          </a:prstGeom>
          <a:solidFill>
            <a:srgbClr val="1E2D42"/>
          </a:solidFill>
          <a:ln>
            <a:solidFill>
              <a:srgbClr val="1E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956925" y="2971800"/>
            <a:ext cx="1591604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Train, predict
Anomaly mask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716152" y="4014216"/>
            <a:ext cx="18288" cy="182880"/>
          </a:xfrm>
          <a:prstGeom prst="rect">
            <a:avLst/>
          </a:prstGeom>
          <a:solidFill>
            <a:srgbClr val="1E2D42"/>
          </a:solidFill>
          <a:ln>
            <a:solidFill>
              <a:srgbClr val="1E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694834" y="2459736"/>
            <a:ext cx="1719620" cy="1554480"/>
          </a:xfrm>
          <a:prstGeom prst="rect">
            <a:avLst/>
          </a:prstGeom>
          <a:solidFill>
            <a:srgbClr val="141C2E"/>
          </a:solidFill>
          <a:ln>
            <a:solidFill>
              <a:srgbClr val="141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694834" y="2459736"/>
            <a:ext cx="1719620" cy="36576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786274" y="2551176"/>
            <a:ext cx="15916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E2A800"/>
                </a:solidFill>
                <a:latin typeface="Calibri"/>
              </a:rPr>
              <a:t>metrics.py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804562" y="2880360"/>
            <a:ext cx="1500164" cy="12700"/>
          </a:xfrm>
          <a:prstGeom prst="rect">
            <a:avLst/>
          </a:prstGeom>
          <a:solidFill>
            <a:srgbClr val="1E2D42"/>
          </a:solidFill>
          <a:ln>
            <a:solidFill>
              <a:srgbClr val="1E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786274" y="2971800"/>
            <a:ext cx="1591604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Silhouette, DB
ARI, P, R, F1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545500" y="4014216"/>
            <a:ext cx="18288" cy="182880"/>
          </a:xfrm>
          <a:prstGeom prst="rect">
            <a:avLst/>
          </a:prstGeom>
          <a:solidFill>
            <a:srgbClr val="1E2D42"/>
          </a:solidFill>
          <a:ln>
            <a:solidFill>
              <a:srgbClr val="1E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2377440" y="4197096"/>
            <a:ext cx="3548969" cy="987552"/>
          </a:xfrm>
          <a:prstGeom prst="rect">
            <a:avLst/>
          </a:prstGeom>
          <a:solidFill>
            <a:srgbClr val="141C2E"/>
          </a:solidFill>
          <a:ln>
            <a:solidFill>
              <a:srgbClr val="141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2377440" y="5148072"/>
            <a:ext cx="3548969" cy="36576"/>
          </a:xfrm>
          <a:prstGeom prst="rect">
            <a:avLst/>
          </a:prstGeom>
          <a:solidFill>
            <a:srgbClr val="1E2D42"/>
          </a:solidFill>
          <a:ln>
            <a:solidFill>
              <a:srgbClr val="1E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487168" y="4270248"/>
            <a:ext cx="338437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8FAFC"/>
                </a:solidFill>
                <a:latin typeface="Calibri"/>
              </a:rPr>
              <a:t>data/raw/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487168" y="4526280"/>
            <a:ext cx="3384377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669"/>
                </a:solidFill>
                <a:latin typeface="Calibri"/>
              </a:rPr>
              <a:t>KDDTrain+.txt
KDDTest+.txt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036137" y="4197096"/>
            <a:ext cx="1719620" cy="987552"/>
          </a:xfrm>
          <a:prstGeom prst="rect">
            <a:avLst/>
          </a:prstGeom>
          <a:solidFill>
            <a:srgbClr val="141C2E"/>
          </a:solidFill>
          <a:ln>
            <a:solidFill>
              <a:srgbClr val="141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036137" y="5148072"/>
            <a:ext cx="1719620" cy="36576"/>
          </a:xfrm>
          <a:prstGeom prst="rect">
            <a:avLst/>
          </a:prstGeom>
          <a:solidFill>
            <a:srgbClr val="1E2D42"/>
          </a:solidFill>
          <a:ln>
            <a:solidFill>
              <a:srgbClr val="1E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145865" y="4270248"/>
            <a:ext cx="15550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8FAFC"/>
                </a:solidFill>
                <a:latin typeface="Calibri"/>
              </a:rPr>
              <a:t>models/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145865" y="4526280"/>
            <a:ext cx="1555028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669"/>
                </a:solidFill>
                <a:latin typeface="Calibri"/>
              </a:rPr>
              <a:t>kmeans_model.pkl
preprocessor.pkl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865485" y="4197096"/>
            <a:ext cx="1719620" cy="987552"/>
          </a:xfrm>
          <a:prstGeom prst="rect">
            <a:avLst/>
          </a:prstGeom>
          <a:solidFill>
            <a:srgbClr val="141C2E"/>
          </a:solidFill>
          <a:ln>
            <a:solidFill>
              <a:srgbClr val="141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865485" y="5148072"/>
            <a:ext cx="1719620" cy="36576"/>
          </a:xfrm>
          <a:prstGeom prst="rect">
            <a:avLst/>
          </a:prstGeom>
          <a:solidFill>
            <a:srgbClr val="1E2D42"/>
          </a:solidFill>
          <a:ln>
            <a:solidFill>
              <a:srgbClr val="1E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975213" y="4270248"/>
            <a:ext cx="15550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8FAFC"/>
                </a:solidFill>
                <a:latin typeface="Calibri"/>
              </a:rPr>
              <a:t>database.py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975213" y="4526280"/>
            <a:ext cx="1555028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669"/>
                </a:solidFill>
                <a:latin typeface="Calibri"/>
              </a:rPr>
              <a:t>SQLite history
auto-migration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694834" y="4197096"/>
            <a:ext cx="1719620" cy="987552"/>
          </a:xfrm>
          <a:prstGeom prst="rect">
            <a:avLst/>
          </a:prstGeom>
          <a:solidFill>
            <a:srgbClr val="141C2E"/>
          </a:solidFill>
          <a:ln>
            <a:solidFill>
              <a:srgbClr val="141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694834" y="5148072"/>
            <a:ext cx="1719620" cy="36576"/>
          </a:xfrm>
          <a:prstGeom prst="rect">
            <a:avLst/>
          </a:prstGeom>
          <a:solidFill>
            <a:srgbClr val="1E2D42"/>
          </a:solidFill>
          <a:ln>
            <a:solidFill>
              <a:srgbClr val="1E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804562" y="4270248"/>
            <a:ext cx="15550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8FAFC"/>
                </a:solidFill>
                <a:latin typeface="Calibri"/>
              </a:rPr>
              <a:t>PDF / CSV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804562" y="4526280"/>
            <a:ext cx="1555028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669"/>
                </a:solidFill>
                <a:latin typeface="Calibri"/>
              </a:rPr>
              <a:t>fpdf2 report
Download button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560320" y="2048256"/>
            <a:ext cx="731520" cy="18288"/>
          </a:xfrm>
          <a:prstGeom prst="rect">
            <a:avLst/>
          </a:prstGeom>
          <a:solidFill>
            <a:srgbClr val="1E2D42"/>
          </a:solidFill>
          <a:ln>
            <a:solidFill>
              <a:srgbClr val="1E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F1A"/>
          </a:solidFill>
          <a:ln>
            <a:solidFill>
              <a:srgbClr val="0C0F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716975" y="-182880"/>
            <a:ext cx="3474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400" b="1" i="0">
                <a:solidFill>
                  <a:srgbClr val="785600"/>
                </a:solidFill>
                <a:latin typeface="Calibri"/>
              </a:rPr>
              <a:t>04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30352"/>
            <a:ext cx="10637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8FAFC"/>
                </a:solidFill>
                <a:latin typeface="Calibri"/>
              </a:rPr>
              <a:t>6-Step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950976"/>
            <a:ext cx="106372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  <a:latin typeface="Calibri"/>
              </a:rPr>
              <a:t>End-to-end workflow — every step is automated and interactive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280160"/>
            <a:ext cx="10637215" cy="12700"/>
          </a:xfrm>
          <a:prstGeom prst="rect">
            <a:avLst/>
          </a:prstGeom>
          <a:solidFill>
            <a:srgbClr val="1E2D42"/>
          </a:solidFill>
          <a:ln>
            <a:solidFill>
              <a:srgbClr val="1E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08615" y="647395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75669"/>
                </a:solidFill>
                <a:latin typeface="Calibri"/>
              </a:rPr>
              <a:t>4  /  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408176"/>
            <a:ext cx="1681429" cy="5084064"/>
          </a:xfrm>
          <a:prstGeom prst="rect">
            <a:avLst/>
          </a:prstGeom>
          <a:solidFill>
            <a:srgbClr val="141C2E"/>
          </a:solidFill>
          <a:ln>
            <a:solidFill>
              <a:srgbClr val="141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408176"/>
            <a:ext cx="1681429" cy="36576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499616"/>
            <a:ext cx="168142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E2A800"/>
                </a:solidFill>
                <a:latin typeface="Calibri"/>
              </a:rPr>
              <a:t>01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86968" y="2029968"/>
            <a:ext cx="1461973" cy="12700"/>
          </a:xfrm>
          <a:prstGeom prst="rect">
            <a:avLst/>
          </a:prstGeom>
          <a:solidFill>
            <a:srgbClr val="1E2D42"/>
          </a:solidFill>
          <a:ln>
            <a:solidFill>
              <a:srgbClr val="1E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103120"/>
            <a:ext cx="155341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8FAFC"/>
                </a:solidFill>
                <a:latin typeface="Calibri"/>
              </a:rPr>
              <a:t>Upload &amp; Validate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2505456"/>
            <a:ext cx="1553413" cy="3913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CSV, Excel, or NSL-KDD .txt
Auto schema check  |  Row/null/duplicate count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86101" y="3785616"/>
            <a:ext cx="109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475669"/>
                </a:solidFill>
                <a:latin typeface="Calibri"/>
              </a:rPr>
              <a:t>&gt;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68397" y="1408176"/>
            <a:ext cx="1681429" cy="5084064"/>
          </a:xfrm>
          <a:prstGeom prst="rect">
            <a:avLst/>
          </a:prstGeom>
          <a:solidFill>
            <a:srgbClr val="141C2E"/>
          </a:solidFill>
          <a:ln>
            <a:solidFill>
              <a:srgbClr val="141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68397" y="1408176"/>
            <a:ext cx="1681429" cy="36576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68397" y="1499616"/>
            <a:ext cx="168142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E2A800"/>
                </a:solidFill>
                <a:latin typeface="Calibri"/>
              </a:rPr>
              <a:t>02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78125" y="2029968"/>
            <a:ext cx="1461973" cy="12700"/>
          </a:xfrm>
          <a:prstGeom prst="rect">
            <a:avLst/>
          </a:prstGeom>
          <a:solidFill>
            <a:srgbClr val="1E2D42"/>
          </a:solidFill>
          <a:ln>
            <a:solidFill>
              <a:srgbClr val="1E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59837" y="2103120"/>
            <a:ext cx="155341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8FAFC"/>
                </a:solidFill>
                <a:latin typeface="Calibri"/>
              </a:rPr>
              <a:t>Explore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59837" y="2505456"/>
            <a:ext cx="1553413" cy="3913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4 Plotly chart tabs: Labels, Categoricals, Numerics, Correlation
All charts update when new data is uploaded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77258" y="3785616"/>
            <a:ext cx="109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475669"/>
                </a:solidFill>
                <a:latin typeface="Calibri"/>
              </a:rPr>
              <a:t>&gt;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59554" y="1408176"/>
            <a:ext cx="1681429" cy="5084064"/>
          </a:xfrm>
          <a:prstGeom prst="rect">
            <a:avLst/>
          </a:prstGeom>
          <a:solidFill>
            <a:srgbClr val="141C2E"/>
          </a:solidFill>
          <a:ln>
            <a:solidFill>
              <a:srgbClr val="141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59554" y="1408176"/>
            <a:ext cx="1681429" cy="36576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59554" y="1499616"/>
            <a:ext cx="168142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E2A800"/>
                </a:solidFill>
                <a:latin typeface="Calibri"/>
              </a:rPr>
              <a:t>03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69282" y="2029968"/>
            <a:ext cx="1461973" cy="12700"/>
          </a:xfrm>
          <a:prstGeom prst="rect">
            <a:avLst/>
          </a:prstGeom>
          <a:solidFill>
            <a:srgbClr val="1E2D42"/>
          </a:solidFill>
          <a:ln>
            <a:solidFill>
              <a:srgbClr val="1E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50994" y="2103120"/>
            <a:ext cx="155341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8FAFC"/>
                </a:solidFill>
                <a:latin typeface="Calibri"/>
              </a:rPr>
              <a:t>Preprocess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50994" y="2505456"/>
            <a:ext cx="1553413" cy="3913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OneHotEncoder  +  StandardScaler via ColumnTransformer
43 raw columns  --&gt;  122 processed features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68415" y="3785616"/>
            <a:ext cx="109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475669"/>
                </a:solidFill>
                <a:latin typeface="Calibri"/>
              </a:rPr>
              <a:t>&gt;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50711" y="1408176"/>
            <a:ext cx="1681429" cy="5084064"/>
          </a:xfrm>
          <a:prstGeom prst="rect">
            <a:avLst/>
          </a:prstGeom>
          <a:solidFill>
            <a:srgbClr val="141C2E"/>
          </a:solidFill>
          <a:ln>
            <a:solidFill>
              <a:srgbClr val="141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50711" y="1408176"/>
            <a:ext cx="1681429" cy="36576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50711" y="1499616"/>
            <a:ext cx="168142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E2A800"/>
                </a:solidFill>
                <a:latin typeface="Calibri"/>
              </a:rPr>
              <a:t>04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60439" y="2029968"/>
            <a:ext cx="1461973" cy="12700"/>
          </a:xfrm>
          <a:prstGeom prst="rect">
            <a:avLst/>
          </a:prstGeom>
          <a:solidFill>
            <a:srgbClr val="1E2D42"/>
          </a:solidFill>
          <a:ln>
            <a:solidFill>
              <a:srgbClr val="1E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42151" y="2103120"/>
            <a:ext cx="155341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8FAFC"/>
                </a:solidFill>
                <a:latin typeface="Calibri"/>
              </a:rPr>
              <a:t>Detect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42151" y="2505456"/>
            <a:ext cx="1553413" cy="3913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K-Means with configurable k (2-20) via sidebar slider
Pre-trained k=5 model loads in one click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59572" y="3785616"/>
            <a:ext cx="109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475669"/>
                </a:solidFill>
                <a:latin typeface="Calibri"/>
              </a:rPr>
              <a:t>&gt;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941868" y="1408176"/>
            <a:ext cx="1681429" cy="5084064"/>
          </a:xfrm>
          <a:prstGeom prst="rect">
            <a:avLst/>
          </a:prstGeom>
          <a:solidFill>
            <a:srgbClr val="141C2E"/>
          </a:solidFill>
          <a:ln>
            <a:solidFill>
              <a:srgbClr val="141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941868" y="1408176"/>
            <a:ext cx="1681429" cy="36576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941868" y="1499616"/>
            <a:ext cx="168142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E2A800"/>
                </a:solidFill>
                <a:latin typeface="Calibri"/>
              </a:rPr>
              <a:t>05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51596" y="2029968"/>
            <a:ext cx="1461973" cy="12700"/>
          </a:xfrm>
          <a:prstGeom prst="rect">
            <a:avLst/>
          </a:prstGeom>
          <a:solidFill>
            <a:srgbClr val="1E2D42"/>
          </a:solidFill>
          <a:ln>
            <a:solidFill>
              <a:srgbClr val="1E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33308" y="2103120"/>
            <a:ext cx="155341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8FAFC"/>
                </a:solidFill>
                <a:latin typeface="Calibri"/>
              </a:rPr>
              <a:t>Evaluate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33308" y="2505456"/>
            <a:ext cx="1553413" cy="3913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Silhouette Score  |  Davies-Bouldin  |  ARI  |  Precision  |  Recall  |  F1
PCA 2D scatter + cluster bar chart + error breakdown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50729" y="3785616"/>
            <a:ext cx="109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475669"/>
                </a:solidFill>
                <a:latin typeface="Calibri"/>
              </a:rPr>
              <a:t>&gt;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733025" y="1408176"/>
            <a:ext cx="1681429" cy="5084064"/>
          </a:xfrm>
          <a:prstGeom prst="rect">
            <a:avLst/>
          </a:prstGeom>
          <a:solidFill>
            <a:srgbClr val="141C2E"/>
          </a:solidFill>
          <a:ln>
            <a:solidFill>
              <a:srgbClr val="141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733025" y="1408176"/>
            <a:ext cx="1681429" cy="36576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733025" y="1499616"/>
            <a:ext cx="168142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E2A800"/>
                </a:solidFill>
                <a:latin typeface="Calibri"/>
              </a:rPr>
              <a:t>06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842753" y="2029968"/>
            <a:ext cx="1461973" cy="12700"/>
          </a:xfrm>
          <a:prstGeom prst="rect">
            <a:avLst/>
          </a:prstGeom>
          <a:solidFill>
            <a:srgbClr val="1E2D42"/>
          </a:solidFill>
          <a:ln>
            <a:solidFill>
              <a:srgbClr val="1E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824465" y="2103120"/>
            <a:ext cx="155341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8FAFC"/>
                </a:solidFill>
                <a:latin typeface="Calibri"/>
              </a:rPr>
              <a:t>Export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824465" y="2505456"/>
            <a:ext cx="1553413" cy="3913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Download CSV with cluster + is_anomaly columns
Auto-generated PDF report  |  SQLite history database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F1A"/>
          </a:solidFill>
          <a:ln>
            <a:solidFill>
              <a:srgbClr val="0C0F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41C2E"/>
          </a:solidFill>
          <a:ln>
            <a:solidFill>
              <a:srgbClr val="141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49808"/>
            <a:ext cx="12191695" cy="36576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" cy="749808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9456" y="73152"/>
            <a:ext cx="1082009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8FAFC"/>
                </a:solidFill>
                <a:latin typeface="Calibri"/>
              </a:rPr>
              <a:t>Step 1  —  Upload &amp; Validation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" y="457200"/>
            <a:ext cx="1182593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Drag-and-drop a file and the app validates schema, counts rows, nulls, and duplicates automatically</a:t>
            </a:r>
          </a:p>
        </p:txBody>
      </p:sp>
      <p:pic>
        <p:nvPicPr>
          <p:cNvPr id="8" name="Picture 7" descr="02_after_up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804672"/>
            <a:ext cx="10637215" cy="592531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408615" y="647395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75669"/>
                </a:solidFill>
                <a:latin typeface="Calibri"/>
              </a:rPr>
              <a:t>5  /  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4462" y="2492320"/>
            <a:ext cx="82296" cy="82296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939666" y="2172280"/>
            <a:ext cx="11887" cy="320040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56890" y="1897960"/>
            <a:ext cx="2377440" cy="274320"/>
          </a:xfrm>
          <a:prstGeom prst="rect">
            <a:avLst/>
          </a:prstGeom>
          <a:solidFill>
            <a:srgbClr val="1A2438"/>
          </a:solidFill>
          <a:ln w="11430"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48330" y="1925392"/>
            <a:ext cx="22494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2A800"/>
                </a:solidFill>
                <a:latin typeface="Calibri"/>
              </a:rPr>
              <a:t>6-step progress indicator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69166" y="2854810"/>
            <a:ext cx="82296" cy="82296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51462" y="2890015"/>
            <a:ext cx="365760" cy="11887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17222" y="2758798"/>
            <a:ext cx="1920240" cy="274320"/>
          </a:xfrm>
          <a:prstGeom prst="rect">
            <a:avLst/>
          </a:prstGeom>
          <a:solidFill>
            <a:srgbClr val="1A2438"/>
          </a:solidFill>
          <a:ln w="11430"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08662" y="2786230"/>
            <a:ext cx="17922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2A800"/>
                </a:solidFill>
                <a:latin typeface="Calibri"/>
              </a:rPr>
              <a:t>File badge with size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18421" y="3447341"/>
            <a:ext cx="82296" cy="82296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200717" y="3482546"/>
            <a:ext cx="365760" cy="11887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566477" y="3351329"/>
            <a:ext cx="2560320" cy="274320"/>
          </a:xfrm>
          <a:prstGeom prst="rect">
            <a:avLst/>
          </a:prstGeom>
          <a:solidFill>
            <a:srgbClr val="1A2438"/>
          </a:solidFill>
          <a:ln w="11430"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57917" y="3378761"/>
            <a:ext cx="24323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2A800"/>
                </a:solidFill>
                <a:latin typeface="Calibri"/>
              </a:rPr>
              <a:t>Automatic schema validation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89266" y="4562694"/>
            <a:ext cx="82296" cy="82296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523506" y="4597899"/>
            <a:ext cx="365760" cy="11887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603266" y="4466682"/>
            <a:ext cx="1920240" cy="274320"/>
          </a:xfrm>
          <a:prstGeom prst="rect">
            <a:avLst/>
          </a:prstGeom>
          <a:solidFill>
            <a:srgbClr val="1A2438"/>
          </a:solidFill>
          <a:ln w="11430"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94706" y="4494114"/>
            <a:ext cx="17922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2A800"/>
                </a:solidFill>
                <a:latin typeface="Calibri"/>
              </a:rPr>
              <a:t>22,544 rows loaded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14014" y="4562694"/>
            <a:ext cx="82296" cy="82296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649219" y="4644990"/>
            <a:ext cx="11887" cy="457200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740762" y="5102190"/>
            <a:ext cx="1828800" cy="274320"/>
          </a:xfrm>
          <a:prstGeom prst="rect">
            <a:avLst/>
          </a:prstGeom>
          <a:solidFill>
            <a:srgbClr val="1A2438"/>
          </a:solidFill>
          <a:ln w="11430"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32202" y="5129622"/>
            <a:ext cx="17007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2A800"/>
                </a:solidFill>
                <a:latin typeface="Calibri"/>
              </a:rPr>
              <a:t>43 columns detected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00773" y="4562694"/>
            <a:ext cx="82296" cy="82296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83069" y="4597899"/>
            <a:ext cx="365760" cy="11887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48829" y="4466682"/>
            <a:ext cx="1645920" cy="274320"/>
          </a:xfrm>
          <a:prstGeom prst="rect">
            <a:avLst/>
          </a:prstGeom>
          <a:solidFill>
            <a:srgbClr val="1A2438"/>
          </a:solidFill>
          <a:ln w="11430"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40269" y="4494114"/>
            <a:ext cx="15179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2A800"/>
                </a:solidFill>
                <a:latin typeface="Calibri"/>
              </a:rPr>
              <a:t>0 null values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F1A"/>
          </a:solidFill>
          <a:ln>
            <a:solidFill>
              <a:srgbClr val="0C0F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41C2E"/>
          </a:solidFill>
          <a:ln>
            <a:solidFill>
              <a:srgbClr val="141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49808"/>
            <a:ext cx="12191695" cy="36576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" cy="749808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9456" y="73152"/>
            <a:ext cx="1082009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8FAFC"/>
                </a:solidFill>
                <a:latin typeface="Calibri"/>
              </a:rPr>
              <a:t>Step 2  —  Exploratory Data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" y="457200"/>
            <a:ext cx="1182593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4 interactive Plotly tabs — Labels, Categoricals, Numerics, Correlation — rendered on upload</a:t>
            </a:r>
          </a:p>
        </p:txBody>
      </p:sp>
      <p:pic>
        <p:nvPicPr>
          <p:cNvPr id="8" name="Picture 7" descr="04_eda_lab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804672"/>
            <a:ext cx="10637215" cy="592531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408615" y="647395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75669"/>
                </a:solidFill>
                <a:latin typeface="Calibri"/>
              </a:rPr>
              <a:t>6  /  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79216" y="4165350"/>
            <a:ext cx="82296" cy="82296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713456" y="4200554"/>
            <a:ext cx="365760" cy="11887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58976" y="4069338"/>
            <a:ext cx="1554480" cy="274320"/>
          </a:xfrm>
          <a:prstGeom prst="rect">
            <a:avLst/>
          </a:prstGeom>
          <a:solidFill>
            <a:srgbClr val="1A2438"/>
          </a:solidFill>
          <a:ln w="11430"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50416" y="4096770"/>
            <a:ext cx="14264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2A800"/>
                </a:solidFill>
                <a:latin typeface="Calibri"/>
              </a:rPr>
              <a:t>4 chart tabs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3087" y="5085516"/>
            <a:ext cx="82296" cy="82296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07327" y="5120720"/>
            <a:ext cx="365760" cy="11887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104207" y="4989504"/>
            <a:ext cx="2103120" cy="274320"/>
          </a:xfrm>
          <a:prstGeom prst="rect">
            <a:avLst/>
          </a:prstGeom>
          <a:solidFill>
            <a:srgbClr val="1A2438"/>
          </a:solidFill>
          <a:ln w="11430"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95647" y="5016936"/>
            <a:ext cx="19751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2A800"/>
                </a:solidFill>
                <a:latin typeface="Calibri"/>
              </a:rPr>
              <a:t>Traffic label distribution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789983" y="4946097"/>
            <a:ext cx="82296" cy="82296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872279" y="4981301"/>
            <a:ext cx="347472" cy="11887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219751" y="4850085"/>
            <a:ext cx="2194560" cy="274320"/>
          </a:xfrm>
          <a:prstGeom prst="rect">
            <a:avLst/>
          </a:prstGeom>
          <a:solidFill>
            <a:srgbClr val="1A2438"/>
          </a:solidFill>
          <a:ln w="11430"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11191" y="4877517"/>
            <a:ext cx="20665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2A800"/>
                </a:solidFill>
                <a:latin typeface="Calibri"/>
              </a:rPr>
              <a:t>Normal vs Attack donut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575515" y="5768669"/>
            <a:ext cx="82296" cy="82296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657811" y="5803874"/>
            <a:ext cx="347472" cy="11887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005283" y="5672657"/>
            <a:ext cx="2377440" cy="274320"/>
          </a:xfrm>
          <a:prstGeom prst="rect">
            <a:avLst/>
          </a:prstGeom>
          <a:solidFill>
            <a:srgbClr val="1A2438"/>
          </a:solidFill>
          <a:ln w="11430"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096723" y="5700089"/>
            <a:ext cx="22494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2A800"/>
                </a:solidFill>
                <a:latin typeface="Calibri"/>
              </a:rPr>
              <a:t>56.9% of records are attacks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F1A"/>
          </a:solidFill>
          <a:ln>
            <a:solidFill>
              <a:srgbClr val="0C0F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41C2E"/>
          </a:solidFill>
          <a:ln>
            <a:solidFill>
              <a:srgbClr val="141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49808"/>
            <a:ext cx="12191695" cy="36576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" cy="749808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9456" y="73152"/>
            <a:ext cx="1082009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8FAFC"/>
                </a:solidFill>
                <a:latin typeface="Calibri"/>
              </a:rPr>
              <a:t>Step 5  —  Detection 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" y="457200"/>
            <a:ext cx="1182593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Cluster 4 auto-flagged as anomaly cluster (99.6% attack purity)  |  Silhouette Score 0.3930  |  2,219 anomalies</a:t>
            </a:r>
          </a:p>
        </p:txBody>
      </p:sp>
      <p:pic>
        <p:nvPicPr>
          <p:cNvPr id="8" name="Picture 7" descr="11_cluster_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804672"/>
            <a:ext cx="10637215" cy="592531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408615" y="647395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75669"/>
                </a:solidFill>
                <a:latin typeface="Calibri"/>
              </a:rPr>
              <a:t>7  /  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7051" y="2610827"/>
            <a:ext cx="82296" cy="82296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2256" y="2263355"/>
            <a:ext cx="11887" cy="347472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272359" y="1989035"/>
            <a:ext cx="2011680" cy="274320"/>
          </a:xfrm>
          <a:prstGeom prst="rect">
            <a:avLst/>
          </a:prstGeom>
          <a:solidFill>
            <a:srgbClr val="1A2438"/>
          </a:solidFill>
          <a:ln w="11430"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63799" y="2016467"/>
            <a:ext cx="18836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2A800"/>
                </a:solidFill>
                <a:latin typeface="Calibri"/>
              </a:rPr>
              <a:t>2,219 anomalies detected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706405" y="2610827"/>
            <a:ext cx="82296" cy="82296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741609" y="2263355"/>
            <a:ext cx="11887" cy="347472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833153" y="1989035"/>
            <a:ext cx="1828800" cy="274320"/>
          </a:xfrm>
          <a:prstGeom prst="rect">
            <a:avLst/>
          </a:prstGeom>
          <a:solidFill>
            <a:srgbClr val="1A2438"/>
          </a:solidFill>
          <a:ln w="11430"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24593" y="2016467"/>
            <a:ext cx="17007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2A800"/>
                </a:solidFill>
                <a:latin typeface="Calibri"/>
              </a:rPr>
              <a:t>9.84% anomaly rate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94401" y="3252155"/>
            <a:ext cx="82296" cy="82296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276697" y="3287359"/>
            <a:ext cx="347472" cy="11887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624169" y="3156143"/>
            <a:ext cx="2560320" cy="274320"/>
          </a:xfrm>
          <a:prstGeom prst="rect">
            <a:avLst/>
          </a:prstGeom>
          <a:solidFill>
            <a:srgbClr val="1A2438"/>
          </a:solidFill>
          <a:ln w="11430"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15609" y="3183575"/>
            <a:ext cx="24323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2A800"/>
                </a:solidFill>
                <a:latin typeface="Calibri"/>
              </a:rPr>
              <a:t>Auto-identified anomaly cluster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95638" y="4255972"/>
            <a:ext cx="82296" cy="82296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030843" y="4338268"/>
            <a:ext cx="11887" cy="365760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13826" y="4704028"/>
            <a:ext cx="1645920" cy="274320"/>
          </a:xfrm>
          <a:prstGeom prst="rect">
            <a:avLst/>
          </a:prstGeom>
          <a:solidFill>
            <a:srgbClr val="1A2438"/>
          </a:solidFill>
          <a:ln w="11430"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05266" y="4731460"/>
            <a:ext cx="15179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2A800"/>
                </a:solidFill>
                <a:latin typeface="Calibri"/>
              </a:rPr>
              <a:t>Silhouette Score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89011" y="4255972"/>
            <a:ext cx="82296" cy="82296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24216" y="4338268"/>
            <a:ext cx="11887" cy="365760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70039" y="4704028"/>
            <a:ext cx="1920240" cy="274320"/>
          </a:xfrm>
          <a:prstGeom prst="rect">
            <a:avLst/>
          </a:prstGeom>
          <a:solidFill>
            <a:srgbClr val="1A2438"/>
          </a:solidFill>
          <a:ln w="11430"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61479" y="4731460"/>
            <a:ext cx="17922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2A800"/>
                </a:solidFill>
                <a:latin typeface="Calibri"/>
              </a:rPr>
              <a:t>Davies-Bouldin Index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763037" y="5782611"/>
            <a:ext cx="82296" cy="82296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97277" y="5817816"/>
            <a:ext cx="365760" cy="11887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928397" y="5686599"/>
            <a:ext cx="2468880" cy="274320"/>
          </a:xfrm>
          <a:prstGeom prst="rect">
            <a:avLst/>
          </a:prstGeom>
          <a:solidFill>
            <a:srgbClr val="1A2438"/>
          </a:solidFill>
          <a:ln w="11430"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019837" y="5714031"/>
            <a:ext cx="23408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2A800"/>
                </a:solidFill>
                <a:latin typeface="Calibri"/>
              </a:rPr>
              <a:t>Records per cluster bar chart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F1A"/>
          </a:solidFill>
          <a:ln>
            <a:solidFill>
              <a:srgbClr val="0C0F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41C2E"/>
          </a:solidFill>
          <a:ln>
            <a:solidFill>
              <a:srgbClr val="141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49808"/>
            <a:ext cx="12191695" cy="36576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" cy="749808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9456" y="73152"/>
            <a:ext cx="1082009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8FAFC"/>
                </a:solidFill>
                <a:latin typeface="Calibri"/>
              </a:rPr>
              <a:t>Step 5  —  Error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" y="457200"/>
            <a:ext cx="1182593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Precision 0.9964  |  Recall 0.1723  |  F1 0.2938  |  10,622 false negatives</a:t>
            </a:r>
          </a:p>
        </p:txBody>
      </p:sp>
      <p:pic>
        <p:nvPicPr>
          <p:cNvPr id="8" name="Picture 7" descr="12_error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804672"/>
            <a:ext cx="10637215" cy="592531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408615" y="647395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75669"/>
                </a:solidFill>
                <a:latin typeface="Calibri"/>
              </a:rPr>
              <a:t>8  /  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36080" y="4255972"/>
            <a:ext cx="82296" cy="82296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71284" y="4338268"/>
            <a:ext cx="11887" cy="384048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97068" y="4722316"/>
            <a:ext cx="2560320" cy="274320"/>
          </a:xfrm>
          <a:prstGeom prst="rect">
            <a:avLst/>
          </a:prstGeom>
          <a:solidFill>
            <a:srgbClr val="1A2438"/>
          </a:solidFill>
          <a:ln w="11430"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88508" y="4749748"/>
            <a:ext cx="24323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2A800"/>
                </a:solidFill>
                <a:latin typeface="Calibri"/>
              </a:rPr>
              <a:t>Precision: 0.9964 - pure cluster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68426" y="4255972"/>
            <a:ext cx="82296" cy="82296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03631" y="4338268"/>
            <a:ext cx="11887" cy="384048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37974" y="4722316"/>
            <a:ext cx="2743200" cy="274320"/>
          </a:xfrm>
          <a:prstGeom prst="rect">
            <a:avLst/>
          </a:prstGeom>
          <a:solidFill>
            <a:srgbClr val="1A2438"/>
          </a:solidFill>
          <a:ln w="11430"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29414" y="4749748"/>
            <a:ext cx="26151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2A800"/>
                </a:solidFill>
                <a:latin typeface="Calibri"/>
              </a:rPr>
              <a:t>Recall: 0.1723 - mixed attacks missed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67432" y="4255972"/>
            <a:ext cx="82296" cy="82296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402636" y="3871924"/>
            <a:ext cx="11887" cy="384048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402740" y="3597604"/>
            <a:ext cx="2011680" cy="274320"/>
          </a:xfrm>
          <a:prstGeom prst="rect">
            <a:avLst/>
          </a:prstGeom>
          <a:solidFill>
            <a:srgbClr val="1A2438"/>
          </a:solidFill>
          <a:ln w="11430"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94180" y="3625036"/>
            <a:ext cx="18836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2A800"/>
                </a:solidFill>
                <a:latin typeface="Calibri"/>
              </a:rPr>
              <a:t>10,622 false negatives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59117" y="5329499"/>
            <a:ext cx="82296" cy="82296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093357" y="5364704"/>
            <a:ext cx="365760" cy="11887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807357" y="5233487"/>
            <a:ext cx="2286000" cy="274320"/>
          </a:xfrm>
          <a:prstGeom prst="rect">
            <a:avLst/>
          </a:prstGeom>
          <a:solidFill>
            <a:srgbClr val="1A2438"/>
          </a:solidFill>
          <a:ln w="11430"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898797" y="5260919"/>
            <a:ext cx="21579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2A800"/>
                </a:solidFill>
                <a:latin typeface="Calibri"/>
              </a:rPr>
              <a:t>neptune = most missed attack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5943600"/>
            <a:ext cx="10637215" cy="786384"/>
          </a:xfrm>
          <a:prstGeom prst="rect">
            <a:avLst/>
          </a:prstGeom>
          <a:solidFill>
            <a:srgbClr val="1A2438"/>
          </a:solidFill>
          <a:ln w="12700"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8408" y="5998464"/>
            <a:ext cx="1036289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2A800"/>
                </a:solidFill>
                <a:latin typeface="Calibri"/>
              </a:rPr>
              <a:t>Why is recall low?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" y="6272784"/>
            <a:ext cx="10362895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K-Means distributes all 5 attack types across 5 clusters. Only ONE cluster is flagged as anomalous. DoS attacks like neptune that end up in 'normal' clusters are not detected — this is the inherent trade-off of single-cluster anomaly flagging.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F1A"/>
          </a:solidFill>
          <a:ln>
            <a:solidFill>
              <a:srgbClr val="0C0F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716975" y="-182880"/>
            <a:ext cx="3474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400" b="1" i="0">
                <a:solidFill>
                  <a:srgbClr val="785600"/>
                </a:solidFill>
                <a:latin typeface="Calibri"/>
              </a:rPr>
              <a:t>09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30352"/>
            <a:ext cx="10637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8FAFC"/>
                </a:solidFill>
                <a:latin typeface="Calibri"/>
              </a:rPr>
              <a:t>Model Selection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950976"/>
            <a:ext cx="106372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  <a:latin typeface="Calibri"/>
              </a:rPr>
              <a:t>Comparing K-Means at k = 3, 4, 5 — and why K-Means was chosen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280160"/>
            <a:ext cx="10637215" cy="12700"/>
          </a:xfrm>
          <a:prstGeom prst="rect">
            <a:avLst/>
          </a:prstGeom>
          <a:solidFill>
            <a:srgbClr val="1E2D42"/>
          </a:solidFill>
          <a:ln>
            <a:solidFill>
              <a:srgbClr val="1E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08615" y="647395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75669"/>
                </a:solidFill>
                <a:latin typeface="Calibri"/>
              </a:rPr>
              <a:t>9  /  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408176"/>
            <a:ext cx="6035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669"/>
                </a:solidFill>
                <a:latin typeface="Calibri"/>
              </a:rPr>
              <a:t>Internal clustering metrics (no labels required):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1728216"/>
            <a:ext cx="1188720" cy="512064"/>
          </a:xfrm>
          <a:prstGeom prst="rect">
            <a:avLst/>
          </a:prstGeom>
          <a:solidFill>
            <a:srgbClr val="141C2E"/>
          </a:solidFill>
          <a:ln w="10160">
            <a:solidFill>
              <a:srgbClr val="1E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1874520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2A800"/>
                </a:solidFill>
                <a:latin typeface="Calibri"/>
              </a:rPr>
              <a:t>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65960" y="1728216"/>
            <a:ext cx="2423160" cy="512064"/>
          </a:xfrm>
          <a:prstGeom prst="rect">
            <a:avLst/>
          </a:prstGeom>
          <a:solidFill>
            <a:srgbClr val="141C2E"/>
          </a:solidFill>
          <a:ln w="10160">
            <a:solidFill>
              <a:srgbClr val="1E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75688" y="1874520"/>
            <a:ext cx="2258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2A800"/>
                </a:solidFill>
                <a:latin typeface="Calibri"/>
              </a:rPr>
              <a:t>Silhouette Score  (higher = better)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0" y="1728216"/>
            <a:ext cx="2423160" cy="512064"/>
          </a:xfrm>
          <a:prstGeom prst="rect">
            <a:avLst/>
          </a:prstGeom>
          <a:solidFill>
            <a:srgbClr val="141C2E"/>
          </a:solidFill>
          <a:ln w="10160">
            <a:solidFill>
              <a:srgbClr val="1E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98848" y="1874520"/>
            <a:ext cx="2258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2A800"/>
                </a:solidFill>
                <a:latin typeface="Calibri"/>
              </a:rPr>
              <a:t>Davies-Bouldin  (lower = better)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2240280"/>
            <a:ext cx="1188720" cy="512064"/>
          </a:xfrm>
          <a:prstGeom prst="rect">
            <a:avLst/>
          </a:prstGeom>
          <a:solidFill>
            <a:srgbClr val="0C0F1A"/>
          </a:solidFill>
          <a:ln w="10160">
            <a:solidFill>
              <a:srgbClr val="1E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2386584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Calibri"/>
              </a:rP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965960" y="2240280"/>
            <a:ext cx="2423160" cy="512064"/>
          </a:xfrm>
          <a:prstGeom prst="rect">
            <a:avLst/>
          </a:prstGeom>
          <a:solidFill>
            <a:srgbClr val="0C0F1A"/>
          </a:solidFill>
          <a:ln w="10160">
            <a:solidFill>
              <a:srgbClr val="1E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075688" y="2386584"/>
            <a:ext cx="2258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Calibri"/>
              </a:rPr>
              <a:t>0.4203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89120" y="2240280"/>
            <a:ext cx="2423160" cy="512064"/>
          </a:xfrm>
          <a:prstGeom prst="rect">
            <a:avLst/>
          </a:prstGeom>
          <a:solidFill>
            <a:srgbClr val="0C0F1A"/>
          </a:solidFill>
          <a:ln w="10160">
            <a:solidFill>
              <a:srgbClr val="1E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98848" y="2386584"/>
            <a:ext cx="2258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Calibri"/>
              </a:rPr>
              <a:t>1.0628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2752344"/>
            <a:ext cx="1188720" cy="512064"/>
          </a:xfrm>
          <a:prstGeom prst="rect">
            <a:avLst/>
          </a:prstGeom>
          <a:solidFill>
            <a:srgbClr val="0C0F1A"/>
          </a:solidFill>
          <a:ln w="10160">
            <a:solidFill>
              <a:srgbClr val="1E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6968" y="2898648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Calibri"/>
              </a:rPr>
              <a:t>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965960" y="2752344"/>
            <a:ext cx="2423160" cy="512064"/>
          </a:xfrm>
          <a:prstGeom prst="rect">
            <a:avLst/>
          </a:prstGeom>
          <a:solidFill>
            <a:srgbClr val="0C0F1A"/>
          </a:solidFill>
          <a:ln w="10160">
            <a:solidFill>
              <a:srgbClr val="1E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075688" y="2898648"/>
            <a:ext cx="2258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Calibri"/>
              </a:rPr>
              <a:t>0.4254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89120" y="2752344"/>
            <a:ext cx="2423160" cy="512064"/>
          </a:xfrm>
          <a:prstGeom prst="rect">
            <a:avLst/>
          </a:prstGeom>
          <a:solidFill>
            <a:srgbClr val="0C0F1A"/>
          </a:solidFill>
          <a:ln w="10160">
            <a:solidFill>
              <a:srgbClr val="1E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98848" y="2898648"/>
            <a:ext cx="2258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Calibri"/>
              </a:rPr>
              <a:t>0.9609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7240" y="3264408"/>
            <a:ext cx="1188720" cy="512064"/>
          </a:xfrm>
          <a:prstGeom prst="rect">
            <a:avLst/>
          </a:prstGeom>
          <a:solidFill>
            <a:srgbClr val="182610"/>
          </a:solidFill>
          <a:ln w="10160"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6968" y="341071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2A800"/>
                </a:solidFill>
                <a:latin typeface="Calibri"/>
              </a:rPr>
              <a:t>* 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965960" y="3264408"/>
            <a:ext cx="2423160" cy="512064"/>
          </a:xfrm>
          <a:prstGeom prst="rect">
            <a:avLst/>
          </a:prstGeom>
          <a:solidFill>
            <a:srgbClr val="182610"/>
          </a:solidFill>
          <a:ln w="10160"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075688" y="3410712"/>
            <a:ext cx="2258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2A800"/>
                </a:solidFill>
                <a:latin typeface="Calibri"/>
              </a:rPr>
              <a:t>0.4404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89120" y="3264408"/>
            <a:ext cx="2423160" cy="512064"/>
          </a:xfrm>
          <a:prstGeom prst="rect">
            <a:avLst/>
          </a:prstGeom>
          <a:solidFill>
            <a:srgbClr val="182610"/>
          </a:solidFill>
          <a:ln w="10160"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98848" y="3410712"/>
            <a:ext cx="2258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2A800"/>
                </a:solidFill>
                <a:latin typeface="Calibri"/>
              </a:rPr>
              <a:t>0.8884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77240" y="3977640"/>
            <a:ext cx="6035040" cy="457200"/>
          </a:xfrm>
          <a:prstGeom prst="rect">
            <a:avLst/>
          </a:prstGeom>
          <a:solidFill>
            <a:srgbClr val="182610"/>
          </a:solidFill>
          <a:ln w="10160"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1832" y="4087368"/>
            <a:ext cx="58155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2A800"/>
                </a:solidFill>
                <a:latin typeface="Calibri"/>
              </a:rPr>
              <a:t>k = 5 selected — best Silhouette AND lowest Davies-Bouldin simultaneously.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4617720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2A800"/>
                </a:solidFill>
                <a:latin typeface="Calibri"/>
              </a:rPr>
              <a:t>Why K-Means?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" y="5001768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Simple, fast, and interpretable — well-suited for initial anomaly triage on high-dimensional tabular data.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" y="5769864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2A800"/>
                </a:solidFill>
                <a:latin typeface="Calibri"/>
              </a:rPr>
              <a:t>Why k = 5?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" y="6153912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NSL-KDD traffic naturally groups into 5 behaviors: Normal, DoS, Probe, R2L, U2R. Five clusters match this structure without over-fragmenting.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178040" y="1408176"/>
            <a:ext cx="4236415" cy="5129784"/>
          </a:xfrm>
          <a:prstGeom prst="rect">
            <a:avLst/>
          </a:prstGeom>
          <a:solidFill>
            <a:srgbClr val="141C2E"/>
          </a:solidFill>
          <a:ln>
            <a:solidFill>
              <a:srgbClr val="141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178040" y="1408176"/>
            <a:ext cx="54864" cy="5129784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60920" y="1554480"/>
            <a:ext cx="399867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FAFC"/>
                </a:solidFill>
                <a:latin typeface="Calibri"/>
              </a:rPr>
              <a:t>What the metrics measure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360920" y="1920240"/>
            <a:ext cx="3916375" cy="12700"/>
          </a:xfrm>
          <a:prstGeom prst="rect">
            <a:avLst/>
          </a:prstGeom>
          <a:solidFill>
            <a:srgbClr val="1E2D42"/>
          </a:solidFill>
          <a:ln>
            <a:solidFill>
              <a:srgbClr val="1E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79208" y="2011680"/>
            <a:ext cx="396209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2A800"/>
                </a:solidFill>
                <a:latin typeface="Calibri"/>
              </a:rPr>
              <a:t>Silhouette Score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79208" y="2304288"/>
            <a:ext cx="396209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Measures how tightly packed each cluster is compared to its nearest neighbor cluster. A score of 0.44 indicates clearly separated clusters with limited overlap.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379208" y="3090672"/>
            <a:ext cx="3888943" cy="12700"/>
          </a:xfrm>
          <a:prstGeom prst="rect">
            <a:avLst/>
          </a:prstGeom>
          <a:solidFill>
            <a:srgbClr val="1E2D42"/>
          </a:solidFill>
          <a:ln>
            <a:solidFill>
              <a:srgbClr val="1E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379208" y="3218688"/>
            <a:ext cx="396209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2A800"/>
                </a:solidFill>
                <a:latin typeface="Calibri"/>
              </a:rPr>
              <a:t>Davies-Bouldin Index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79208" y="3511296"/>
            <a:ext cx="396209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Average ratio of intra-cluster spread to inter-cluster distance. A score of 0.89 (below 1.0) confirms the five clusters are well separated in the 122-dimensional space.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79208" y="4297680"/>
            <a:ext cx="3888943" cy="12700"/>
          </a:xfrm>
          <a:prstGeom prst="rect">
            <a:avLst/>
          </a:prstGeom>
          <a:solidFill>
            <a:srgbClr val="1E2D42"/>
          </a:solidFill>
          <a:ln>
            <a:solidFill>
              <a:srgbClr val="1E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379208" y="4425696"/>
            <a:ext cx="396209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2A800"/>
                </a:solidFill>
                <a:latin typeface="Calibri"/>
              </a:rPr>
              <a:t>Adjusted Rand Index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79208" y="4718304"/>
            <a:ext cx="396209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Compares the discovered clusters against the true binary labels. A perfect match = 1.0. A value of 0.16 reflects the single-cluster limitation — only one of five attack groups is fully isolated.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379208" y="5504688"/>
            <a:ext cx="3888943" cy="12700"/>
          </a:xfrm>
          <a:prstGeom prst="rect">
            <a:avLst/>
          </a:prstGeom>
          <a:solidFill>
            <a:srgbClr val="1E2D42"/>
          </a:solidFill>
          <a:ln>
            <a:solidFill>
              <a:srgbClr val="1E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F1A"/>
          </a:solidFill>
          <a:ln>
            <a:solidFill>
              <a:srgbClr val="0C0F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716975" y="-182880"/>
            <a:ext cx="3474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400" b="1" i="0">
                <a:solidFill>
                  <a:srgbClr val="785600"/>
                </a:solidFill>
                <a:latin typeface="Calibri"/>
              </a:rPr>
              <a:t>10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30352"/>
            <a:ext cx="10637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8FAFC"/>
                </a:solidFill>
                <a:latin typeface="Calibri"/>
              </a:rPr>
              <a:t>Limitations &amp; Future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950976"/>
            <a:ext cx="106372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  <a:latin typeface="Calibri"/>
              </a:rPr>
              <a:t>Honest assessment — what works and what to improve next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280160"/>
            <a:ext cx="10637215" cy="12700"/>
          </a:xfrm>
          <a:prstGeom prst="rect">
            <a:avLst/>
          </a:prstGeom>
          <a:solidFill>
            <a:srgbClr val="1E2D42"/>
          </a:solidFill>
          <a:ln>
            <a:solidFill>
              <a:srgbClr val="1E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08615" y="647395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75669"/>
                </a:solidFill>
                <a:latin typeface="Calibri"/>
              </a:rPr>
              <a:t>10  /  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408176"/>
            <a:ext cx="5158587" cy="5129784"/>
          </a:xfrm>
          <a:prstGeom prst="rect">
            <a:avLst/>
          </a:prstGeom>
          <a:solidFill>
            <a:srgbClr val="141C2E"/>
          </a:solidFill>
          <a:ln>
            <a:solidFill>
              <a:srgbClr val="141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408176"/>
            <a:ext cx="54864" cy="5129784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1554480"/>
            <a:ext cx="515858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8FAFC"/>
                </a:solidFill>
                <a:latin typeface="Calibri"/>
              </a:rPr>
              <a:t>Current Limitations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0120" y="1920240"/>
            <a:ext cx="4884267" cy="12700"/>
          </a:xfrm>
          <a:prstGeom prst="rect">
            <a:avLst/>
          </a:prstGeom>
          <a:solidFill>
            <a:srgbClr val="1E2D42"/>
          </a:solidFill>
          <a:ln>
            <a:solidFill>
              <a:srgbClr val="1E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011680"/>
            <a:ext cx="488426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FAFC"/>
                </a:solidFill>
                <a:latin typeface="Calibri"/>
              </a:rPr>
              <a:t>Recall = 17%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304288"/>
            <a:ext cx="4884267" cy="7840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Only one cluster is flagged. Attacks distributed across the remaining four clusters are missed. Single-cluster flagging is a known trade-off of this approach.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0120" y="3088386"/>
            <a:ext cx="4884267" cy="12700"/>
          </a:xfrm>
          <a:prstGeom prst="rect">
            <a:avLst/>
          </a:prstGeom>
          <a:solidFill>
            <a:srgbClr val="1E2D42"/>
          </a:solidFill>
          <a:ln>
            <a:solidFill>
              <a:srgbClr val="1E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143250"/>
            <a:ext cx="488426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FAFC"/>
                </a:solidFill>
                <a:latin typeface="Calibri"/>
              </a:rPr>
              <a:t>k must be set manually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435858"/>
            <a:ext cx="4884267" cy="7840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The number of clusters is a parameter the user must choose. In production, the optimal k is not known in advance.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0120" y="4219956"/>
            <a:ext cx="4884267" cy="12700"/>
          </a:xfrm>
          <a:prstGeom prst="rect">
            <a:avLst/>
          </a:prstGeom>
          <a:solidFill>
            <a:srgbClr val="1E2D42"/>
          </a:solidFill>
          <a:ln>
            <a:solidFill>
              <a:srgbClr val="1E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274820"/>
            <a:ext cx="488426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FAFC"/>
                </a:solidFill>
                <a:latin typeface="Calibri"/>
              </a:rPr>
              <a:t>NSL-KDD is academic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567428"/>
            <a:ext cx="4884267" cy="7840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The dataset was created in 1999. It does not represent modern attack types (ransomware, supply-chain attacks, zero-days).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0120" y="5351526"/>
            <a:ext cx="4884267" cy="12700"/>
          </a:xfrm>
          <a:prstGeom prst="rect">
            <a:avLst/>
          </a:prstGeom>
          <a:solidFill>
            <a:srgbClr val="1E2D42"/>
          </a:solidFill>
          <a:ln>
            <a:solidFill>
              <a:srgbClr val="1E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5406390"/>
            <a:ext cx="488426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FAFC"/>
                </a:solidFill>
                <a:latin typeface="Calibri"/>
              </a:rPr>
              <a:t>Centroids are random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5698998"/>
            <a:ext cx="4884267" cy="7840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K-Means results can vary with different random seeds despite n_init=10. Results are reproducible within this codebase but may differ on other hardware.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55867" y="1408176"/>
            <a:ext cx="5158587" cy="5129784"/>
          </a:xfrm>
          <a:prstGeom prst="rect">
            <a:avLst/>
          </a:prstGeom>
          <a:solidFill>
            <a:srgbClr val="141C2E"/>
          </a:solidFill>
          <a:ln>
            <a:solidFill>
              <a:srgbClr val="141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55867" y="1408176"/>
            <a:ext cx="54864" cy="5129784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38747" y="1554480"/>
            <a:ext cx="515858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8FAFC"/>
                </a:solidFill>
                <a:latin typeface="Calibri"/>
              </a:rPr>
              <a:t>Next Steps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38747" y="1920240"/>
            <a:ext cx="4884267" cy="12700"/>
          </a:xfrm>
          <a:prstGeom prst="rect">
            <a:avLst/>
          </a:prstGeom>
          <a:solidFill>
            <a:srgbClr val="1E2D42"/>
          </a:solidFill>
          <a:ln>
            <a:solidFill>
              <a:srgbClr val="1E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38747" y="2103120"/>
            <a:ext cx="54864" cy="201168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03339" y="2011680"/>
            <a:ext cx="470138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8FAFC"/>
                </a:solidFill>
                <a:latin typeface="Calibri"/>
              </a:rPr>
              <a:t>Auto k selection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03339" y="2304288"/>
            <a:ext cx="4701387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Implement Elbow method and Silhouette scan directly in the app. The user sees a curve and the optimal k is highlighted.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38747" y="2862072"/>
            <a:ext cx="4884267" cy="12700"/>
          </a:xfrm>
          <a:prstGeom prst="rect">
            <a:avLst/>
          </a:prstGeom>
          <a:solidFill>
            <a:srgbClr val="1E2D42"/>
          </a:solidFill>
          <a:ln>
            <a:solidFill>
              <a:srgbClr val="1E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38747" y="3008376"/>
            <a:ext cx="54864" cy="201168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3339" y="2916936"/>
            <a:ext cx="470138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8FAFC"/>
                </a:solidFill>
                <a:latin typeface="Calibri"/>
              </a:rPr>
              <a:t>DBSCAN comparison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03339" y="3209544"/>
            <a:ext cx="4701387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Add a second algorithm tab. DBSCAN requires no k and naturally identifies noise points as anomalies — better recall at cost of interpretability.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38747" y="3767328"/>
            <a:ext cx="4884267" cy="12700"/>
          </a:xfrm>
          <a:prstGeom prst="rect">
            <a:avLst/>
          </a:prstGeom>
          <a:solidFill>
            <a:srgbClr val="1E2D42"/>
          </a:solidFill>
          <a:ln>
            <a:solidFill>
              <a:srgbClr val="1E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38747" y="3913632"/>
            <a:ext cx="54864" cy="201168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03339" y="3822192"/>
            <a:ext cx="470138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8FAFC"/>
                </a:solidFill>
                <a:latin typeface="Calibri"/>
              </a:rPr>
              <a:t>Modern datasets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03339" y="4114800"/>
            <a:ext cx="4701387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Replace or supplement NSL-KDD with CICIDS 2017/2018, which includes modern web attacks, botnet, and DoS vectors.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38747" y="4672584"/>
            <a:ext cx="4884267" cy="12700"/>
          </a:xfrm>
          <a:prstGeom prst="rect">
            <a:avLst/>
          </a:prstGeom>
          <a:solidFill>
            <a:srgbClr val="1E2D42"/>
          </a:solidFill>
          <a:ln>
            <a:solidFill>
              <a:srgbClr val="1E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438747" y="4818888"/>
            <a:ext cx="54864" cy="201168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03339" y="4727448"/>
            <a:ext cx="470138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8FAFC"/>
                </a:solidFill>
                <a:latin typeface="Calibri"/>
              </a:rPr>
              <a:t>Real-time input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03339" y="5020056"/>
            <a:ext cx="4701387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Stream live PCAP traffic through the preprocessing pipeline using Scapy. Classify each new flow against the trained cluster centroids.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38747" y="5577840"/>
            <a:ext cx="4884267" cy="12700"/>
          </a:xfrm>
          <a:prstGeom prst="rect">
            <a:avLst/>
          </a:prstGeom>
          <a:solidFill>
            <a:srgbClr val="1E2D42"/>
          </a:solidFill>
          <a:ln>
            <a:solidFill>
              <a:srgbClr val="1E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438747" y="5724144"/>
            <a:ext cx="54864" cy="201168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603339" y="5632704"/>
            <a:ext cx="470138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8FAFC"/>
                </a:solidFill>
                <a:latin typeface="Calibri"/>
              </a:rPr>
              <a:t>Improve recall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03339" y="5925312"/>
            <a:ext cx="4701387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Flag all clusters with attack ratio &gt; threshold, not just the top one. This trades some precision for significantly higher recall.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F1A"/>
          </a:solidFill>
          <a:ln>
            <a:solidFill>
              <a:srgbClr val="0C0F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716975" y="-182880"/>
            <a:ext cx="3474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400" b="1" i="0">
                <a:solidFill>
                  <a:srgbClr val="785600"/>
                </a:solidFill>
                <a:latin typeface="Calibri"/>
              </a:rPr>
              <a:t>11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30352"/>
            <a:ext cx="10637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8FAFC"/>
                </a:solidFill>
                <a:latin typeface="Calibri"/>
              </a:rPr>
              <a:t>Export &amp; Analysis History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950976"/>
            <a:ext cx="106372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  <a:latin typeface="Calibri"/>
              </a:rPr>
              <a:t>Three ways to persist and share results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280160"/>
            <a:ext cx="10637215" cy="12700"/>
          </a:xfrm>
          <a:prstGeom prst="rect">
            <a:avLst/>
          </a:prstGeom>
          <a:solidFill>
            <a:srgbClr val="1E2D42"/>
          </a:solidFill>
          <a:ln>
            <a:solidFill>
              <a:srgbClr val="1E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08615" y="647395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75669"/>
                </a:solidFill>
                <a:latin typeface="Calibri"/>
              </a:rPr>
              <a:t>11  /  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408176"/>
            <a:ext cx="3393338" cy="5129784"/>
          </a:xfrm>
          <a:prstGeom prst="rect">
            <a:avLst/>
          </a:prstGeom>
          <a:solidFill>
            <a:srgbClr val="141C2E"/>
          </a:solidFill>
          <a:ln>
            <a:solidFill>
              <a:srgbClr val="141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408176"/>
            <a:ext cx="3393338" cy="45720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" y="1536192"/>
            <a:ext cx="316473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8FAFC"/>
                </a:solidFill>
                <a:latin typeface="Calibri"/>
              </a:rPr>
              <a:t>CSV Download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41832" y="1901952"/>
            <a:ext cx="3119018" cy="12700"/>
          </a:xfrm>
          <a:prstGeom prst="rect">
            <a:avLst/>
          </a:prstGeom>
          <a:solidFill>
            <a:srgbClr val="1E2D42"/>
          </a:solidFill>
          <a:ln>
            <a:solidFill>
              <a:srgbClr val="1E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2002536"/>
            <a:ext cx="313730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Original dataset rows plus two appended columns: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" y="2770632"/>
            <a:ext cx="313730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  cluster        assigned cluster ID (0 to k-1)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" y="3154680"/>
            <a:ext cx="313730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  is_anomaly     True / False flag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" y="3922776"/>
            <a:ext cx="313730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Opens in Excel, pandas, R, or any analysis tool.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" y="4306824"/>
            <a:ext cx="313730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Ready for downstream ML pipelines.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99178" y="1408176"/>
            <a:ext cx="3393338" cy="5129784"/>
          </a:xfrm>
          <a:prstGeom prst="rect">
            <a:avLst/>
          </a:prstGeom>
          <a:solidFill>
            <a:srgbClr val="141C2E"/>
          </a:solidFill>
          <a:ln>
            <a:solidFill>
              <a:srgbClr val="141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99178" y="1408176"/>
            <a:ext cx="3393338" cy="45720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63770" y="1536192"/>
            <a:ext cx="316473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8FAFC"/>
                </a:solidFill>
                <a:latin typeface="Calibri"/>
              </a:rPr>
              <a:t>PDF Report  (fpdf2)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63770" y="1901952"/>
            <a:ext cx="3119018" cy="12700"/>
          </a:xfrm>
          <a:prstGeom prst="rect">
            <a:avLst/>
          </a:prstGeom>
          <a:solidFill>
            <a:srgbClr val="1E2D42"/>
          </a:solidFill>
          <a:ln>
            <a:solidFill>
              <a:srgbClr val="1E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63770" y="2002536"/>
            <a:ext cx="313730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Auto-generated single-page report containing: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63770" y="2770632"/>
            <a:ext cx="313730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  File name and algorithm used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3770" y="3154680"/>
            <a:ext cx="313730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  Total records and anomaly count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63770" y="3538728"/>
            <a:ext cx="313730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  Anomaly rate (%)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63770" y="3922776"/>
            <a:ext cx="313730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  Silhouette Score and Davies-Bouldin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63770" y="4306824"/>
            <a:ext cx="313730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  Adjusted Rand Index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63770" y="4690872"/>
            <a:ext cx="313730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  Model parameters for full reproducibility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21116" y="1408176"/>
            <a:ext cx="3393338" cy="5129784"/>
          </a:xfrm>
          <a:prstGeom prst="rect">
            <a:avLst/>
          </a:prstGeom>
          <a:solidFill>
            <a:srgbClr val="141C2E"/>
          </a:solidFill>
          <a:ln>
            <a:solidFill>
              <a:srgbClr val="141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21116" y="1408176"/>
            <a:ext cx="3393338" cy="45720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85708" y="1536192"/>
            <a:ext cx="316473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8FAFC"/>
                </a:solidFill>
                <a:latin typeface="Calibri"/>
              </a:rPr>
              <a:t>SQLite History  (database.py)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85708" y="1901952"/>
            <a:ext cx="3119018" cy="12700"/>
          </a:xfrm>
          <a:prstGeom prst="rect">
            <a:avLst/>
          </a:prstGeom>
          <a:solidFill>
            <a:srgbClr val="1E2D42"/>
          </a:solidFill>
          <a:ln>
            <a:solidFill>
              <a:srgbClr val="1E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85708" y="2002536"/>
            <a:ext cx="313730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Every saved run is stored in analysis_history.db.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85708" y="2770632"/>
            <a:ext cx="313730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  Columns: timestamp, filename, algorithm,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85708" y="3154680"/>
            <a:ext cx="313730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  n_records, n_anomalies, anomaly_ratio,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85708" y="3538728"/>
            <a:ext cx="313730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  silhouette_score, davies_bouldin_score,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85708" y="3922776"/>
            <a:ext cx="313730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  adjusted_rand_index, params_json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85708" y="4690872"/>
            <a:ext cx="313730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Auto-migration: schema upgrades gracefully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85708" y="5074920"/>
            <a:ext cx="313730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when new columns are added.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F1A"/>
          </a:solidFill>
          <a:ln>
            <a:solidFill>
              <a:srgbClr val="0C0F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716975" y="-182880"/>
            <a:ext cx="3474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400" b="1" i="0">
                <a:solidFill>
                  <a:srgbClr val="785600"/>
                </a:solidFill>
                <a:latin typeface="Calibri"/>
              </a:rPr>
              <a:t>12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30352"/>
            <a:ext cx="10637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8FAFC"/>
                </a:solidFill>
                <a:latin typeface="Calibri"/>
              </a:rPr>
              <a:t>Testing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950976"/>
            <a:ext cx="106372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  <a:latin typeface="Calibri"/>
              </a:rPr>
              <a:t>44 automated unit tests — pytest across 4 modules, all passing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280160"/>
            <a:ext cx="10637215" cy="12700"/>
          </a:xfrm>
          <a:prstGeom prst="rect">
            <a:avLst/>
          </a:prstGeom>
          <a:solidFill>
            <a:srgbClr val="1E2D42"/>
          </a:solidFill>
          <a:ln>
            <a:solidFill>
              <a:srgbClr val="1E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08615" y="647395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75669"/>
                </a:solidFill>
                <a:latin typeface="Calibri"/>
              </a:rPr>
              <a:t>12  /  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408176"/>
            <a:ext cx="10637215" cy="1371600"/>
          </a:xfrm>
          <a:prstGeom prst="rect">
            <a:avLst/>
          </a:prstGeom>
          <a:solidFill>
            <a:srgbClr val="141C2E"/>
          </a:solidFill>
          <a:ln>
            <a:solidFill>
              <a:srgbClr val="141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408176"/>
            <a:ext cx="54864" cy="1371600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1408176"/>
            <a:ext cx="141732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E2A800"/>
                </a:solidFill>
                <a:latin typeface="Calibri"/>
              </a:rPr>
              <a:t>44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41448" y="157276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8FAFC"/>
                </a:solidFill>
                <a:latin typeface="Calibri"/>
              </a:rPr>
              <a:t>unit tests  —  all passing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41448" y="1975104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pytest   4 modules   covers loader, preprocessor, model, metrics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41448" y="230428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669"/>
                </a:solidFill>
                <a:latin typeface="Calibri"/>
              </a:rPr>
              <a:t>Run with:   python -m pytest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2980944"/>
            <a:ext cx="10637215" cy="836676"/>
          </a:xfrm>
          <a:prstGeom prst="rect">
            <a:avLst/>
          </a:prstGeom>
          <a:solidFill>
            <a:srgbClr val="141C2E"/>
          </a:solidFill>
          <a:ln>
            <a:solidFill>
              <a:srgbClr val="141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2980944"/>
            <a:ext cx="54864" cy="836676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035808"/>
            <a:ext cx="1038118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FAFC"/>
                </a:solidFill>
                <a:latin typeface="Calibri"/>
              </a:rPr>
              <a:t>test_loader.py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3328416"/>
            <a:ext cx="10381183" cy="434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File loading with CSV / Excel / .txt, column name assignment, schema validation, error handling for invalid files and missing columns.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3872484"/>
            <a:ext cx="10637215" cy="836676"/>
          </a:xfrm>
          <a:prstGeom prst="rect">
            <a:avLst/>
          </a:prstGeom>
          <a:solidFill>
            <a:srgbClr val="0C0F1A"/>
          </a:solidFill>
          <a:ln>
            <a:solidFill>
              <a:srgbClr val="0C0F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3872484"/>
            <a:ext cx="54864" cy="836676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3927348"/>
            <a:ext cx="1038118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FAFC"/>
                </a:solidFill>
                <a:latin typeface="Calibri"/>
              </a:rPr>
              <a:t>test_preprocessor.py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4219956"/>
            <a:ext cx="10381183" cy="434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Output matrix shape after fit-transform, feature name count, correct label separation, save-to-disk and load-from-disk round-trip for the .pkl file.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4764024"/>
            <a:ext cx="10637215" cy="836676"/>
          </a:xfrm>
          <a:prstGeom prst="rect">
            <a:avLst/>
          </a:prstGeom>
          <a:solidFill>
            <a:srgbClr val="141C2E"/>
          </a:solidFill>
          <a:ln>
            <a:solidFill>
              <a:srgbClr val="141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77240" y="4764024"/>
            <a:ext cx="54864" cy="836676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4818888"/>
            <a:ext cx="1038118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FAFC"/>
                </a:solidFill>
                <a:latin typeface="Calibri"/>
              </a:rPr>
              <a:t>test_models.py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5111496"/>
            <a:ext cx="10381183" cy="434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K-Means training on synthetic data, predict returns correct length array, anomaly mask shape, pre-trained .pkl model loads and predicts without errors.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5655564"/>
            <a:ext cx="10637215" cy="836676"/>
          </a:xfrm>
          <a:prstGeom prst="rect">
            <a:avLst/>
          </a:prstGeom>
          <a:solidFill>
            <a:srgbClr val="0C0F1A"/>
          </a:solidFill>
          <a:ln>
            <a:solidFill>
              <a:srgbClr val="0C0F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77240" y="5655564"/>
            <a:ext cx="54864" cy="836676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" y="5710428"/>
            <a:ext cx="1038118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FAFC"/>
                </a:solidFill>
                <a:latin typeface="Calibri"/>
              </a:rPr>
              <a:t>test_metrics.py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6003036"/>
            <a:ext cx="10381183" cy="434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Silhouette Score, Davies-Bouldin Index, Adjusted Rand Index, Precision, Recall, F1 Score — all computed correctly on known cluster assignments.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F1A"/>
          </a:solidFill>
          <a:ln>
            <a:solidFill>
              <a:srgbClr val="0C0F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141C2E"/>
          </a:solidFill>
          <a:ln>
            <a:solidFill>
              <a:srgbClr val="141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16975" y="-182880"/>
            <a:ext cx="3474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400" b="1" i="0">
                <a:solidFill>
                  <a:srgbClr val="785600"/>
                </a:solidFill>
                <a:latin typeface="Calibri"/>
              </a:rPr>
              <a:t>14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30352"/>
            <a:ext cx="10637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8FAFC"/>
                </a:solidFill>
                <a:latin typeface="Calibri"/>
              </a:rPr>
              <a:t>Conclusion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042416"/>
            <a:ext cx="10637215" cy="12700"/>
          </a:xfrm>
          <a:prstGeom prst="rect">
            <a:avLst/>
          </a:prstGeom>
          <a:solidFill>
            <a:srgbClr val="1E2D42"/>
          </a:solidFill>
          <a:ln>
            <a:solidFill>
              <a:srgbClr val="1E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08615" y="647395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75669"/>
                </a:solidFill>
                <a:latin typeface="Calibri"/>
              </a:rPr>
              <a:t>15  /  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188720"/>
            <a:ext cx="3460394" cy="1508760"/>
          </a:xfrm>
          <a:prstGeom prst="rect">
            <a:avLst/>
          </a:prstGeom>
          <a:solidFill>
            <a:srgbClr val="141C2E"/>
          </a:solidFill>
          <a:ln>
            <a:solidFill>
              <a:srgbClr val="141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188720"/>
            <a:ext cx="3460394" cy="45720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261872"/>
            <a:ext cx="346039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E2A800"/>
                </a:solidFill>
                <a:latin typeface="Calibri"/>
              </a:rPr>
              <a:t>0.4404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066544"/>
            <a:ext cx="346039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8FAFC"/>
                </a:solidFill>
                <a:latin typeface="Calibri"/>
              </a:rPr>
              <a:t>Silhouette Score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331720"/>
            <a:ext cx="346039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475669"/>
                </a:solidFill>
                <a:latin typeface="Calibri"/>
              </a:rPr>
              <a:t>k = 5 — best configuration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65650" y="1188720"/>
            <a:ext cx="3460394" cy="1508760"/>
          </a:xfrm>
          <a:prstGeom prst="rect">
            <a:avLst/>
          </a:prstGeom>
          <a:solidFill>
            <a:srgbClr val="141C2E"/>
          </a:solidFill>
          <a:ln>
            <a:solidFill>
              <a:srgbClr val="141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65650" y="1188720"/>
            <a:ext cx="3460394" cy="45720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65650" y="1261872"/>
            <a:ext cx="346039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E2A800"/>
                </a:solidFill>
                <a:latin typeface="Calibri"/>
              </a:rPr>
              <a:t>0.8884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65650" y="2066544"/>
            <a:ext cx="346039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8FAFC"/>
                </a:solidFill>
                <a:latin typeface="Calibri"/>
              </a:rPr>
              <a:t>Davies-Bouldin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65650" y="2331720"/>
            <a:ext cx="346039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475669"/>
                </a:solidFill>
                <a:latin typeface="Calibri"/>
              </a:rPr>
              <a:t>Lowest among all tested 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54060" y="1188720"/>
            <a:ext cx="3460394" cy="1508760"/>
          </a:xfrm>
          <a:prstGeom prst="rect">
            <a:avLst/>
          </a:prstGeom>
          <a:solidFill>
            <a:srgbClr val="141C2E"/>
          </a:solidFill>
          <a:ln>
            <a:solidFill>
              <a:srgbClr val="141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954060" y="1188720"/>
            <a:ext cx="3460394" cy="45720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4060" y="1261872"/>
            <a:ext cx="346039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E2A800"/>
                </a:solidFill>
                <a:latin typeface="Calibri"/>
              </a:rPr>
              <a:t>44 / 44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4060" y="2066544"/>
            <a:ext cx="346039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8FAFC"/>
                </a:solidFill>
                <a:latin typeface="Calibri"/>
              </a:rPr>
              <a:t>Tests Passing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4060" y="2331720"/>
            <a:ext cx="346039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475669"/>
                </a:solidFill>
                <a:latin typeface="Calibri"/>
              </a:rPr>
              <a:t>pytest — 4 modules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2880360"/>
            <a:ext cx="10637215" cy="12700"/>
          </a:xfrm>
          <a:prstGeom prst="rect">
            <a:avLst/>
          </a:prstGeom>
          <a:solidFill>
            <a:srgbClr val="1E2D42"/>
          </a:solidFill>
          <a:ln>
            <a:solidFill>
              <a:srgbClr val="1E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77240" y="3026664"/>
            <a:ext cx="5181447" cy="3374136"/>
          </a:xfrm>
          <a:prstGeom prst="rect">
            <a:avLst/>
          </a:prstGeom>
          <a:solidFill>
            <a:srgbClr val="141C2E"/>
          </a:solidFill>
          <a:ln>
            <a:solidFill>
              <a:srgbClr val="141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" y="3026664"/>
            <a:ext cx="54864" cy="3374136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3172968"/>
            <a:ext cx="518144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8FAFC"/>
                </a:solidFill>
                <a:latin typeface="Calibri"/>
              </a:rPr>
              <a:t>Delivered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0120" y="3621024"/>
            <a:ext cx="54864" cy="201168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24712" y="3529584"/>
            <a:ext cx="4724247" cy="4101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Drag-and-drop upload with automatic validation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0120" y="4031197"/>
            <a:ext cx="54864" cy="201168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24712" y="3939757"/>
            <a:ext cx="4724247" cy="4101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4 interactive EDA chart tabs (Plotly)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60120" y="4441371"/>
            <a:ext cx="54864" cy="201168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24712" y="4349931"/>
            <a:ext cx="4724247" cy="4101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Automated preprocessing — zero configuration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0120" y="4851545"/>
            <a:ext cx="54864" cy="201168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24712" y="4760105"/>
            <a:ext cx="4724247" cy="4101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K-Means with adjustable k  +  pre-trained k=5 model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60120" y="5261718"/>
            <a:ext cx="54864" cy="201168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24712" y="5170278"/>
            <a:ext cx="4724247" cy="4101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Silhouette, Davies-Bouldin, ARI, Precision, Recall, F1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60120" y="5671892"/>
            <a:ext cx="54864" cy="201168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24712" y="5580452"/>
            <a:ext cx="4724247" cy="4101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CSV export, PDF report, SQLite analysis history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60120" y="6082066"/>
            <a:ext cx="54864" cy="201168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24712" y="5990626"/>
            <a:ext cx="4724247" cy="4101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44 automated unit tests across 4 pytest modules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33007" y="3026664"/>
            <a:ext cx="5181447" cy="3374136"/>
          </a:xfrm>
          <a:prstGeom prst="rect">
            <a:avLst/>
          </a:prstGeom>
          <a:solidFill>
            <a:srgbClr val="141C2E"/>
          </a:solidFill>
          <a:ln>
            <a:solidFill>
              <a:srgbClr val="141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33007" y="3026664"/>
            <a:ext cx="54864" cy="3374136"/>
          </a:xfrm>
          <a:prstGeom prst="rect">
            <a:avLst/>
          </a:prstGeom>
          <a:solidFill>
            <a:srgbClr val="E2A800"/>
          </a:solidFill>
          <a:ln>
            <a:solidFill>
              <a:srgbClr val="E2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15887" y="3172968"/>
            <a:ext cx="518144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8FAFC"/>
                </a:solidFill>
                <a:latin typeface="Calibri"/>
              </a:rPr>
              <a:t>Key Takeaway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15887" y="3538728"/>
            <a:ext cx="4907127" cy="275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8FAFC"/>
                </a:solidFill>
                <a:latin typeface="Calibri"/>
              </a:rPr>
              <a:t>Unsupervised clustering can separate normal traffic from anomalies without any labeled training data — making it directly deployable in environments where attack samples are unavailable.
Precision of 0.9964 confirms the anomaly cluster is extremely pure. Low recall reflects the single-cluster constraint — a known limitation addressed honestly and with concrete improvement paths.
The complete pipeline runs in a browser with no setup: upload a file, click two buttons, export the results.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7240" y="6528816"/>
            <a:ext cx="106372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75669"/>
                </a:solidFill>
                <a:latin typeface="Calibri"/>
              </a:rPr>
              <a:t>Thank you  —  Questions welcome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