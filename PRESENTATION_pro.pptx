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51215" y="0"/>
            <a:ext cx="36576" cy="68580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SUPMTI Rabat   AI Capstone 2025-2026   Topic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8FAFC"/>
                </a:solidFill>
                <a:latin typeface="Calibri"/>
              </a:rPr>
              <a:t>Network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E2A800"/>
                </a:solidFill>
                <a:latin typeface="Calibri"/>
              </a:rPr>
              <a:t>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Unsupervised K-Means Clustering   NSL-KDD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858768"/>
            <a:ext cx="3840480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Said Louham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Pr. Soufiane HAMIDA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2025 /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095" y="1005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Built with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34095" y="1463040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8687" y="137160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Python 3.12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095" y="1865376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8687" y="17739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Streamlit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095" y="2267712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8687" y="21762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scikit-learn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4095" y="2670048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98687" y="25786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Plotly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4095" y="3072384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8687" y="298094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4095" y="3474720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98687" y="33832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Why automated anomaly detection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63040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9105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536192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1865376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Networks generate thousands of connections per second. A single 1Gbps link can produce over 60,000 flows per minute — manual inspection is physically impossible.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44368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44368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017520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Variety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346704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Attacks differ fundamentally in behavior. DoS floods bandwidth. Probes scan for open ports quietly. R2L and U2R exploit service vulnerabilities through legitimate channels. No single rule catches all four.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425696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425696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498848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No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828032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 production, traffic arrives without pre-labeled categories. Supervised classifiers require labeled attack samples at training time — a requirement that cannot always be met in new environments.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925312"/>
            <a:ext cx="10637215" cy="493776"/>
          </a:xfrm>
          <a:prstGeom prst="rect">
            <a:avLst/>
          </a:prstGeom>
          <a:solidFill>
            <a:srgbClr val="1A2438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6016752"/>
            <a:ext cx="103811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Calibri"/>
              </a:rPr>
              <a:t>Solution  —  K-Means unsupervised clustering groups traffic by behavior. No labels required at training time. The cluster with the highest attack density is automatically flagged.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NSL-KDD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Improved KDD Cup 1999 — standard academic benchmark for intrusion detection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2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125,973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Training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KDDTrain+.txt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8547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8547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8547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22,544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547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Test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547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KDDTest+.txt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855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9855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9855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9855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Features/record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855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per connection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163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163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163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163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Attack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163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in training 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328416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7472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800"/>
                </a:solidFill>
                <a:latin typeface="Calibri"/>
              </a:rPr>
              <a:t>Attack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86200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803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3803904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neptune, smurf, back, pod, teardrop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279392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1970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Probe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4248" y="4197096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ipsweep, nmap, portsweep, satan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72584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45902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R2L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4248" y="4590288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warezclient, imap, spy, ftp_write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65776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498348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U2R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4248" y="4983480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buffer_overflow, rootkit, perl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458968"/>
            <a:ext cx="54864" cy="219456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537667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Normal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4248" y="5376672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approx. 55% of training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3007" y="347472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800"/>
                </a:solidFill>
                <a:latin typeface="Calibri"/>
              </a:rPr>
              <a:t>Dataset Properties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3007" y="3895344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7599" y="3803904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missing values in either file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3007" y="4288536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7599" y="4197096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Pre-split train / test — zero data leakage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007" y="4681728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7599" y="4590288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 categorical  +  38 numeric features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3007" y="5074920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97599" y="4983480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Labels removed before training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3007" y="5468112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97599" y="5376672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Labels used only after clustering to evaluate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How the modules connect — from raw file to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3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81328"/>
            <a:ext cx="1417320" cy="804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54864" cy="8046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682496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96896"/>
            <a:ext cx="1417320" cy="160934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96896"/>
            <a:ext cx="54864" cy="160934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200400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17136"/>
            <a:ext cx="14173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517136"/>
            <a:ext cx="54864" cy="98755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809744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408176"/>
            <a:ext cx="9037015" cy="868680"/>
          </a:xfrm>
          <a:prstGeom prst="rect">
            <a:avLst/>
          </a:prstGeom>
          <a:solidFill>
            <a:srgbClr val="1A2438"/>
          </a:solidFill>
          <a:ln w="1270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1536192"/>
            <a:ext cx="87626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Streamlit Application   —   src/app/app.py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865376"/>
            <a:ext cx="8762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6 render functions   Session state management   Custom CSS   Sidebar settings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6803" y="227685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loader.py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File loading
Schema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8106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788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788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8228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eda_analysis.py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6516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8228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5 Plotly chart
functions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7454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6137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6137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7577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preprocessor.py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5865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7577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OHE + Scaler
43 -&gt; 122 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6803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5485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5485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6925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kmeans_model.py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75213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6925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Train, predict
Anomaly mask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16152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4834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94834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6274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metrics.py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4562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6274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Silhouette, DB
ARI, P, R, F1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45500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77440" y="4197096"/>
            <a:ext cx="3548969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77440" y="5148072"/>
            <a:ext cx="3548969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4270248"/>
            <a:ext cx="33843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data/raw/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7168" y="4526280"/>
            <a:ext cx="338437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KDDTrain+.txt
KDDTest+.txt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6137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6137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5865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models/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5865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kmeans_model.pkl
preprocessor.pkl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5485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65485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5213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database.py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5213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SQLite history
auto-migration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4834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94834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04562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PDF / CSV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4562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fpdf2 report
Download button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2048256"/>
            <a:ext cx="731520" cy="18288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6-Step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End-to-end workflow — every step is automated and interactive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4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Upload &amp;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CSV, Excel, or NSL-KDD .txt
Auto schema check  |  Row/null/duplicate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6101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8397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8397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8397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8125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9837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9837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Plotly chart tabs: Labels, Categoricals, Numerics, Correlation
All charts update when new data is uploaded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9554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9554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9554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9282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0994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Preprocess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0994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OneHotEncoder  +  StandardScaler via ColumnTransformer
43 raw columns  --&gt;  122 processed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8415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0711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0711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0711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0439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2151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151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K-Means with configurable k (2-20) via sidebar slider
Pre-trained k=5 model loads in one click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9572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41868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41868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41868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596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3308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Evaluate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3308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Silhouette Score  |  Davies-Bouldin  |  ARI  |  Precision  |  Recall  |  F1
PCA 2D scatter + cluster bar chart + error breakdown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0729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3025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33025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3025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42753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4465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Export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4465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Download CSV with cluster + is_anomaly columns
Auto-generated PDF report  |  SQLite history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1  —  Upload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Drag-and-drop a file and the app validates schema, counts rows, nulls, and duplicates automatically</a:t>
            </a:r>
          </a:p>
        </p:txBody>
      </p:sp>
      <p:pic>
        <p:nvPicPr>
          <p:cNvPr id="8" name="Picture 7" descr="02_after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5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62" y="249232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9666" y="2172280"/>
            <a:ext cx="11887" cy="32004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2610" y="1934536"/>
            <a:ext cx="228600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4050" y="1952824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6-step progress indicator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9166" y="285481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1462" y="2890015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7222" y="2777086"/>
            <a:ext cx="19202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8662" y="2795374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File badge with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8421" y="3447341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717" y="3482546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6477" y="3369617"/>
            <a:ext cx="23774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7917" y="3387905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Automatic schema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9266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470" y="4644990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1734" y="4992462"/>
            <a:ext cx="173736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3174" y="5010750"/>
            <a:ext cx="1627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22,544 rows loaded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014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49219" y="4644990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23642" y="4992462"/>
            <a:ext cx="14630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5082" y="5010750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43 columns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0773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35977" y="4644990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10401" y="4992462"/>
            <a:ext cx="14630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1841" y="5010750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0 null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2  —  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 interactive Plotly tabs — Labels, Categoricals, Numerics, Correlation — rendered on upload</a:t>
            </a:r>
          </a:p>
        </p:txBody>
      </p:sp>
      <p:pic>
        <p:nvPicPr>
          <p:cNvPr id="8" name="Picture 7" descr="04_eda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6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9216" y="416535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3456" y="4200554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8976" y="4087626"/>
            <a:ext cx="155448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0416" y="4105914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4 chart tabs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3087" y="5085516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7327" y="5120720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4207" y="5007792"/>
            <a:ext cx="210312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5647" y="5026080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Traffic label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89983" y="494609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2279" y="4981301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9751" y="4868373"/>
            <a:ext cx="219456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1191" y="4886661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Normal vs Attack donut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75515" y="5768669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57811" y="5803874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05283" y="5690945"/>
            <a:ext cx="23774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6723" y="5709233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56.9% of records are attacks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5  —  Detection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Cluster 4 auto-flagged as anomaly cluster (99.6% attack purity)  |  Silhouette Score 0.3930  |  2,219 anomalies</a:t>
            </a:r>
          </a:p>
        </p:txBody>
      </p:sp>
      <p:pic>
        <p:nvPicPr>
          <p:cNvPr id="8" name="Picture 7" descr="11_clust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7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7051" y="261082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256" y="2263355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72359" y="2025611"/>
            <a:ext cx="201168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3799" y="2043899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2,219 anomalies 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6405" y="261082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41609" y="2263355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33153" y="2025611"/>
            <a:ext cx="182880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593" y="2043899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9.84% anomaly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4401" y="3252155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6697" y="3287359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4169" y="3174431"/>
            <a:ext cx="256032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5609" y="3192719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Auto-identified anomaly cluster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638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30843" y="4338268"/>
            <a:ext cx="11887" cy="36576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3826" y="4704028"/>
            <a:ext cx="164592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5266" y="4722316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Silhouette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9011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4216" y="4338268"/>
            <a:ext cx="11887" cy="36576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70039" y="4704028"/>
            <a:ext cx="19202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1479" y="4722316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Davies-Bouldin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3037" y="5782611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97277" y="5817816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8397" y="5704887"/>
            <a:ext cx="246888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9837" y="5723175"/>
            <a:ext cx="2359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Records per cluster bar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5  —  Error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Precision 0.9964  |  Recall 0.1723  |  F1 0.2938  |  10,622 false negatives</a:t>
            </a:r>
          </a:p>
        </p:txBody>
      </p:sp>
      <p:pic>
        <p:nvPicPr>
          <p:cNvPr id="8" name="Picture 7" descr="12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8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6080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71284" y="4338268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05628" y="4685740"/>
            <a:ext cx="274320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7068" y="4704028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Precision 0.9964 — very pure cluster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8426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3631" y="4338268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2254" y="4685740"/>
            <a:ext cx="28346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3694" y="4704028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Recall 0.1723 — missed mixed attacks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7432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02636" y="3908500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94180" y="3670756"/>
            <a:ext cx="182880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5620" y="3689044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10,622 false negatives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9117" y="5329499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93357" y="5364704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5917" y="5251775"/>
            <a:ext cx="2377440" cy="237744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7357" y="5270063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neptune = most missed attack 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43600"/>
            <a:ext cx="10637215" cy="786384"/>
          </a:xfrm>
          <a:prstGeom prst="rect">
            <a:avLst/>
          </a:prstGeom>
          <a:solidFill>
            <a:srgbClr val="1A2438"/>
          </a:solidFill>
          <a:ln w="1270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998464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Why is recall low?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6272784"/>
            <a:ext cx="103628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K-Means distributes all 5 attack types across 5 clusters. Only ONE cluster is flagged as anomalous. DoS attacks like neptune that end up in 'normal' clusters are not detected — this is the inherent trade-off of single-cluster anomaly flagging.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Model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Comparing K-Means at k = 3, 4, 5 — and why K-Means was chosen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9  /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Internal clustering metrics (no labels required):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28216"/>
            <a:ext cx="118872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7452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728216"/>
            <a:ext cx="242316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8" y="1874520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Silhouette Score  (higher = better)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728216"/>
            <a:ext cx="242316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74520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Davies-Bouldin  (lower = better)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40280"/>
            <a:ext cx="118872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38658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240280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2386584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0.4203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240280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386584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1.0628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52344"/>
            <a:ext cx="118872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2752344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75688" y="2898648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0.4254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752344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2898648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0.9609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264408"/>
            <a:ext cx="118872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4107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*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3264408"/>
            <a:ext cx="242316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3410712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0.4404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264408"/>
            <a:ext cx="242316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3410712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0.8884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977640"/>
            <a:ext cx="6035040" cy="457200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087368"/>
            <a:ext cx="5815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k = 5 selected — best Silhouette AND lowest Davies-Bouldin simultaneously.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617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A800"/>
                </a:solidFill>
                <a:latin typeface="Calibri"/>
              </a:rPr>
              <a:t>Why K-Means?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017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Simple, fast, and interpretable — well-suited for initial anomaly triage on high-dimensional tabular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986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A800"/>
                </a:solidFill>
                <a:latin typeface="Calibri"/>
              </a:rPr>
              <a:t>Why k = 5?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1539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NSL-KDD traffic naturally groups into 5 behaviors: Normal, DoS, Probe, R2L, U2R. Five clusters match this structure without over-fragmenting.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1408176"/>
            <a:ext cx="4236415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78040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1554480"/>
            <a:ext cx="39986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What the metrics measure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1920240"/>
            <a:ext cx="391637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208" y="2011680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Silhouette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2304288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Measures how tightly packed each cluster is compared to its nearest neighbor cluster. A score of 0.44 indicates clearly separated clusters with limited overlap.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9208" y="3090672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79208" y="3218688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Davies-Bouldin Index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9208" y="3511296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Average ratio of intra-cluster spread to inter-cluster distance. A score of 0.89 (below 1.0) confirms the five clusters are well separated in the 122-dimensional space.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9208" y="4297680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208" y="4425696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Adjusted Rand Index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9208" y="4718304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Compares the discovered clusters against the true binary labels. A perfect match = 1.0. A value of 0.16 reflects the single-cluster limitation — only one of five attack groups is fully isolated.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9208" y="5504688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Honest assessment — what works and what to improve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10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5158587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51585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Current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9202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Recall = 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Only one cluster is flagged. Attacks distributed across the remaining four clusters are missed. Single-cluster flagging is a known trade-off of this approach.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08838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4325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k must be set manually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3585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number of clusters is a parameter the user must choose. In production, the optimal k is not known in advance.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21995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7482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NSL-KDD is academic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6742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dataset was created in 1999. It does not represent modern attack types (ransomware, supply-chain attacks, zero-days).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535152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0639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Centroids are 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9899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K-Means results can vary with different random seeds despite n_init=10. Results are reproducible within this codebase but may differ on other hardware.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5867" y="1408176"/>
            <a:ext cx="5158587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5867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747" y="1554480"/>
            <a:ext cx="51585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8747" y="19202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38747" y="2103120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3339" y="2011680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Auto k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3339" y="2304288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Implement Elbow method and Silhouette scan directly in the app. The user sees a curve and the optimal k is highlighted.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8747" y="2862072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8747" y="3008376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3339" y="2916936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DBSCAN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3339" y="3209544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Add a second algorithm tab. DBSCAN requires no k and naturally identifies noise points as anomalies — better recall at cost of interpretability.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8747" y="3767328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38747" y="3913632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3339" y="3822192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Modern datasets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3339" y="4114800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Replace or supplement NSL-KDD with CICIDS 2017/2018, which includes modern web attacks, botnet, and DoS vectors.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8747" y="4672584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38747" y="4818888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3339" y="4727448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Real-time 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3339" y="5020056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Stream live PCAP traffic through the preprocessing pipeline using Scapy. Classify each new flow against the trained cluster centroids.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8747" y="55778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8747" y="5724144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3339" y="5632704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Improve 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3339" y="5925312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Flag all clusters with attack ratio &gt; threshold, not just the top one. This trades some precision for significantly higher recall.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Export &amp; Analysis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Three ways to persist and share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11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CSV Download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Original dataset rows plus two appended columns: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cluster        assigned cluster ID (0 to k-1)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is_anomaly     True / False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Opens in Excel, pandas, R, or any analysis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306824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Ready for downstream ML pipelines.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9178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9178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3770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PDF Report  (fpdf2)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3770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Auto-generated single-page report containing: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File name and algorithm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3770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Total records and anomaly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3770" y="3538728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Anomaly rate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3770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Silhouette Score and Davies-Bouldin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3770" y="4306824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Adjusted Rand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3770" y="469087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Model parameters for full reproducibility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116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1116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5708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SQLite History  (database.py)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5708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5708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 saved run is stored in analysis_history.db.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5708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Columns: timestamp, filename, algorithm,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5708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n_records, n_anomalies, anomaly_ratio,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5708" y="3538728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silhouette_score, davies_bouldin_score,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5708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adjusted_rand_index, params_json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5708" y="469087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Auto-migration: schema upgrades gracefully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5708" y="507492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when new columns are added.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44 automated unit tests — pytest across 4 modules, all 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12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10637215" cy="137160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54864" cy="13716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08176"/>
            <a:ext cx="1417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2A800"/>
                </a:solidFill>
                <a:latin typeface="Calibr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unit tests  —  all passing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75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pytest   4 modules   covers loader, preprocessor, model,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304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Run with:   python -m pytest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80944"/>
            <a:ext cx="10637215" cy="8366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98094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3580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test_loader.py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2841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File loading with CSV / Excel / .txt, column name assignment, schema validation, error handling for invalid files and missing columns.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72484"/>
            <a:ext cx="10637215" cy="836676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87248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734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test_preprocessor.py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1995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Output matrix shape after fit-transform, feature name count, correct label separation, save-to-disk and load-from-disk round-trip for the .pkl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64024"/>
            <a:ext cx="10637215" cy="8366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76402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test_models.py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1149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K-Means training on synthetic data, predict returns correct length array, anomaly mask shape, pre-trained .pkl model loads and predicts without errors.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655564"/>
            <a:ext cx="10637215" cy="836676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65556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71042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test_metrics.py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00303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Silhouette Score, Davies-Bouldin Index, Adjusted Rand Index, Precision, Recall, F1 Score — all computed correctly on known cluster assignments.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42416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14  /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0.4404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Silhouette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 = 5 — best configuration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565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565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565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0.8884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565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Davies-Bouldin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565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Lowest among all tested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406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406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406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44 / 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406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Tests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406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pytest — 4 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8803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026664"/>
            <a:ext cx="5181447" cy="33741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026664"/>
            <a:ext cx="54864" cy="337413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172968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Delivered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621024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3529584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Drag-and-drop upload with automatic validation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031197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3939757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 interactive EDA chart tabs (Plotly)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441371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4349931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Automated preprocessing — zero 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851545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4760105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K-Means with adjustable k  +  pre-trained k=5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5261718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5170278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Silhouette, Davies-Bouldin, ARI, Precision, Recall,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671892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712" y="5580452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CSV export, PDF report, SQLite analysis history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6082066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" y="5990626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44 automated unit tests across 4 pytest modules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3026664"/>
            <a:ext cx="5181447" cy="33741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3007" y="3026664"/>
            <a:ext cx="54864" cy="337413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5887" y="3172968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Key Takeaway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3538728"/>
            <a:ext cx="4907127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Calibri"/>
              </a:rPr>
              <a:t>Unsupervised clustering can separate normal traffic from anomalies without any labeled training data — making it directly deployable in environments where attack samples are unavailable.
Precision of 0.9964 confirms the anomaly cluster is extremely pure. Low recall reflects the single-cluster constraint — a known limitation addressed honestly and with concrete improvement paths.
The complete pipeline runs in a browser with no setup: upload a file, click two buttons, export the results.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528816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  <a:latin typeface="Calibri"/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